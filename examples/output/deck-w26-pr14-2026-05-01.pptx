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194560"/>
            <a:ext cx="1280160" cy="109728"/>
          </a:xfrm>
          <a:prstGeom prst="rect">
            <a:avLst/>
          </a:prstGeom>
          <a:solidFill>
            <a:srgbClr val="D2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>
                <a:solidFill>
                  <a:srgbClr val="1B1B1B"/>
                </a:solidFill>
                <a:latin typeface="Helvetica Neue"/>
              </a:rPr>
              <a:t>The State of AI in Winter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6B6B6B"/>
                </a:solidFill>
                <a:latin typeface="Helvetica Neue"/>
              </a:rPr>
              <a:t>63.3% of the batch analyzed under strict anti-hallucination guards. 113 companies in the high-confidence cohort.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Helvetica Neue"/>
              </a:rPr>
              <a:t>yc-ai-pulse · generated 2026-05-02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0" cy="73152"/>
          </a:xfrm>
          <a:prstGeom prst="rect">
            <a:avLst/>
          </a:prstGeom>
          <a:solidFill>
            <a:srgbClr val="D2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B1B1B"/>
                </a:solidFill>
                <a:latin typeface="Helvetica Neue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B1B1B"/>
                </a:solidFill>
                <a:latin typeface="Helvetica Neue"/>
              </a:rPr>
              <a:t>• 69 of 113 high-confidence companies build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B1B1B"/>
                </a:solidFill>
                <a:latin typeface="Helvetica Neue"/>
              </a:rPr>
              <a:t>• 7 companies were classified as no-ai despite being in the YC AI batch.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B1B1B"/>
                </a:solidFill>
                <a:latin typeface="Helvetica Neue"/>
              </a:rPr>
              <a:t>• OSS posture: 75 closed, 24 unknown, 8 api-only.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Helvetica Neue"/>
              </a:rPr>
              <a:t>Source: github.com/RyanAlberts/yc-ai-pulse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0" cy="73152"/>
          </a:xfrm>
          <a:prstGeom prst="rect">
            <a:avLst/>
          </a:prstGeom>
          <a:solidFill>
            <a:srgbClr val="D2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1B"/>
                </a:solidFill>
                <a:latin typeface="Helvetica Neue"/>
              </a:rPr>
              <a:t>Industry distribution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7724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73736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B1B1B"/>
                </a:solidFill>
                <a:latin typeface="Helvetica Neue"/>
              </a:rPr>
              <a:t>Top: 27 B2B SaaS, 15 AI Infrastructure, 11 Developer Tools. Cohort: 113 high+medium-confidence companies.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Helvetica Neue"/>
              </a:rPr>
              <a:t>Source: github.com/RyanAlberts/yc-ai-pulse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19456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B1B1B"/>
                </a:solidFill>
                <a:latin typeface="Helvetica Neue"/>
              </a:rPr>
              <a:t>"Foundation models that translate SAR radar into photorealistic optical imagery for 24/7 all-weather Earth observation across defense, commo…"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389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6B6B"/>
                </a:solidFill>
                <a:latin typeface="Helvetica Neue"/>
              </a:rPr>
              <a:t>— axionorbital-space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Helvetica Neue"/>
              </a:rPr>
              <a:t>Source: https://www.ycombinator.com/companies/axionorbital-space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0" cy="73152"/>
          </a:xfrm>
          <a:prstGeom prst="rect">
            <a:avLst/>
          </a:prstGeom>
          <a:solidFill>
            <a:srgbClr val="D2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1B"/>
                </a:solidFill>
                <a:latin typeface="Helvetica Neue"/>
              </a:rPr>
              <a:t>AI capability x industry heatmap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7724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73736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B1B1B"/>
                </a:solidFill>
                <a:latin typeface="Helvetica Neue"/>
              </a:rPr>
              <a:t>Top capability: agents (69 of 113). Cell label = number of companies pairing that capability with that industry.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Helvetica Neue"/>
              </a:rPr>
              <a:t>Source: github.com/RyanAlberts/yc-ai-pulse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0" cy="73152"/>
          </a:xfrm>
          <a:prstGeom prst="rect">
            <a:avLst/>
          </a:prstGeom>
          <a:solidFill>
            <a:srgbClr val="D2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1B"/>
                </a:solidFill>
                <a:latin typeface="Helvetica Neue"/>
              </a:rPr>
              <a:t>Tech stack signals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7724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73736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B1B1B"/>
                </a:solidFill>
                <a:latin typeface="Helvetica Neue"/>
              </a:rPr>
              <a:t>Many companies returned tech_stack=unknown — the LLM can only cite what's visible on the website. The named entries are the model providers and frameworks the model could verify from public surfaces.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Helvetica Neue"/>
              </a:rPr>
              <a:t>Source: github.com/RyanAlberts/yc-ai-pulse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0" cy="73152"/>
          </a:xfrm>
          <a:prstGeom prst="rect">
            <a:avLst/>
          </a:prstGeom>
          <a:solidFill>
            <a:srgbClr val="D2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1B1B"/>
                </a:solidFill>
                <a:latin typeface="Helvetica Neue"/>
              </a:rPr>
              <a:t>Open-source posture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7724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73736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B1B1B"/>
                </a:solidFill>
                <a:latin typeface="Helvetica Neue"/>
              </a:rPr>
              <a:t>Closed dominates — typical for B2B SaaS. The unknown slice is the cohort the model could not classify from public surfaces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Helvetica Neue"/>
              </a:rPr>
              <a:t>Source: github.com/RyanAlberts/yc-ai-pulse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19456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B1B1B"/>
                </a:solidFill>
                <a:latin typeface="Helvetica Neue"/>
              </a:rPr>
              <a:t>"AI agents that automate primary care workflows—prior auths, referrals, risk adjustment—directly inside any EHR for value-based care practic…"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389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6B6B"/>
                </a:solidFill>
                <a:latin typeface="Helvetica Neue"/>
              </a:rPr>
              <a:t>— beacon-health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Helvetica Neue"/>
              </a:rPr>
              <a:t>Source: https://www.ycombinator.com/companies/beacon-health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0" cy="73152"/>
          </a:xfrm>
          <a:prstGeom prst="rect">
            <a:avLst/>
          </a:prstGeom>
          <a:solidFill>
            <a:srgbClr val="D2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Helvetica Neue"/>
              </a:rPr>
              <a:t>runanywhere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B1B"/>
                </a:solidFill>
                <a:latin typeface="Helvetica Neue"/>
              </a:rPr>
              <a:t>On-device AI inference SDK + control plane to deploy, manage, and monitor LLMs across edge devices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Industry: AI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AI capability: inference-infra, speech, voice, vision, multimodal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Tech stack: qwen, custom-model, onnx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OSS posture: source-available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B1B1B"/>
                </a:solidFill>
                <a:latin typeface="Helvetica Neue"/>
              </a:rPr>
              <a:t>"RunAnywhere builds custom inference runtimes (MetalRT) and cross-platform SDKs for on-device AI execution with LLM, speech, vision, and speech-to-speech capabilities; the about page states 'open by default' with published benchmarks and methodology, and the GitHub reference (10.4K stars) confirms source-available posture, while the YC tags 'Infrastructure' and 'Developer Tools' plus the descripti…"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Helvetica Neue"/>
              </a:rPr>
              <a:t>Source: https://www.ycombinator.com/companies/runanywhere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0" cy="73152"/>
          </a:xfrm>
          <a:prstGeom prst="rect">
            <a:avLst/>
          </a:prstGeom>
          <a:solidFill>
            <a:srgbClr val="D2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Helvetica Neue"/>
              </a:rPr>
              <a:t>strand-ai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B1B"/>
                </a:solidFill>
                <a:latin typeface="Helvetica Neue"/>
              </a:rPr>
              <a:t>AI platform that predicts missing biological modalities (proteomics, transcriptomics) from existing patient data to accelerate drug discove…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Industry: Biotech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AI capability: multimodal, vision, bio-ai, data-pipeline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Tech stack: custom-model, pytorch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OSS posture: api-only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B1B1B"/>
                </a:solidFill>
                <a:latin typeface="Helvetica Neue"/>
              </a:rPr>
              <a:t>"Strand AI builds proprietary foundation models (e.g., POSTMAN, VariantFormer) that predict missing biological modalities from existing patient data — 'One H&amp;E slide becomes 180+ spatial protein maps' — making it a biotech/bio-AI play with a multimodal vision AI core; access is via request/early-access only with no open-source repository mentioned, indicating api-only posture."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Helvetica Neue"/>
              </a:rPr>
              <a:t>Source: https://strandai.com/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0" cy="73152"/>
          </a:xfrm>
          <a:prstGeom prst="rect">
            <a:avLst/>
          </a:prstGeom>
          <a:solidFill>
            <a:srgbClr val="D2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Helvetica Neue"/>
              </a:rPr>
              <a:t>shofo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B1B"/>
                </a:solidFill>
                <a:latin typeface="Helvetica Neue"/>
              </a:rPr>
              <a:t>Managed pipeline that continuously indexes, labels, and enriches social-media video at scale for AI pre-training and fine-tuning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Industry: AI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AI capability: data-pipeline, training-infra, vision, multimodal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Tech stack: huggingface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OSS posture: api-only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B1B1B"/>
                </a:solidFill>
                <a:latin typeface="Helvetica Neue"/>
              </a:rPr>
              <a:t>"Description explicitly states Shofo 'builds large-scale social media training datasets by collecting, labeling, and enriching public content for pre-training and fine-tuning AI models,' placing it squarely in AI Infrastructure with data-pipeline and training-infra capabilities. The homepage prominently features 'Hugging Face Get Data' for dataset distribution, and the commercial framing ('compani…"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Helvetica Neue"/>
              </a:rPr>
              <a:t>Source: https://www.ycombinator.com/companies/shofo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0" cy="73152"/>
          </a:xfrm>
          <a:prstGeom prst="rect">
            <a:avLst/>
          </a:prstGeom>
          <a:solidFill>
            <a:srgbClr val="D2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Helvetica Neue"/>
              </a:rPr>
              <a:t>chamber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B1B"/>
                </a:solidFill>
                <a:latin typeface="Helvetica Neue"/>
              </a:rPr>
              <a:t>Autonomous AIOps platform that optimizes GPU cluster utilization so ML teams run ~50% more workloads without manual infra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Industry: AI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AI capability: agents, evals-observability, inference-infra, training-infra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Tech stack: unknown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OSS posture: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B1B1B"/>
                </a:solidFill>
                <a:latin typeface="Helvetica Neue"/>
              </a:rPr>
              <a:t>"Chamber's description explicitly states it 'orchestrates, governs, and optimizes your AI infrastructure' using 'agentic AI' that 'continuously monitoring GPU clusters, forecasting demand, detecting unhealthy nodes, and reallocating resources in real time' — clearly AI Infrastructure with agent-based automation. No open-source repository or model weights are referenced anywhere in the crawled page…"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Helvetica Neue"/>
              </a:rPr>
              <a:t>Source: https://www.ycombinator.com/companies/chamber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0" cy="73152"/>
          </a:xfrm>
          <a:prstGeom prst="rect">
            <a:avLst/>
          </a:prstGeom>
          <a:solidFill>
            <a:srgbClr val="D2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Helvetica Neue"/>
              </a:rPr>
              <a:t>patientdeskai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B1B"/>
                </a:solidFill>
                <a:latin typeface="Helvetica Neue"/>
              </a:rPr>
              <a:t>AI voice receptionist for dental &amp; healthcare practices — automates scheduling, billing, insurance, and patient comms across any PMS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Industry: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AI capability: voice, agents, speech, nlp-classic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Tech stack: unknown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OSS posture: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B1B1B"/>
                </a:solidFill>
                <a:latin typeface="Helvetica Neue"/>
              </a:rPr>
              <a:t>"The YC description explicitly calls it a 'universal AI front desk' using an 'AI voice agent for patient calls' that automates scheduling, insurance, and reminders — mapping directly to voice, agents, speech, and NLP capabilities. The privacy policy confirms it is 'an AI-powered receptionist and patient communication platform designed exclusively for dental and healthcare practices' handling 'AI-h…"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Helvetica Neue"/>
              </a:rPr>
              <a:t>Source: https://www.ycombinator.com/companies/patientdeskai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0" cy="73152"/>
          </a:xfrm>
          <a:prstGeom prst="rect">
            <a:avLst/>
          </a:prstGeom>
          <a:solidFill>
            <a:srgbClr val="D2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Helvetica Neue"/>
              </a:rPr>
              <a:t>mousecat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B1B"/>
                </a:solidFill>
                <a:latin typeface="Helvetica Neue"/>
              </a:rPr>
              <a:t>AI-powered fraud investigation platform that auto-generates features, rules, and production decisions for enterprise risk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Industry: Fintech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AI capability: agents, rag, data-pipeline, evals-observability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Tech stack: unknown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6B6B"/>
                </a:solidFill>
                <a:latin typeface="Helvetica Neue"/>
              </a:rPr>
              <a:t>OSS posture: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B1B1B"/>
                </a:solidFill>
                <a:latin typeface="Helvetica Neue"/>
              </a:rPr>
              <a:t>"The website explicitly positions MouseCat as 'AI-Powered Fraud Investigation' for Risk Ops and ML/DS teams, closing the loop from investigation to 'production rules, models and decisions'; YC tags confirm Fintech and Fraud Detection, with AI agents and data-pipeline capabilities evidenced by auto-generating features from data warehouses (Databricks/Snowflake) and backtesting rules end-to-end."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Helvetica Neue"/>
              </a:rPr>
              <a:t>Source: https://www.mousecat.ai/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0" cy="73152"/>
          </a:xfrm>
          <a:prstGeom prst="rect">
            <a:avLst/>
          </a:prstGeom>
          <a:solidFill>
            <a:srgbClr val="D2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B1B1B"/>
                </a:solidFill>
                <a:latin typeface="Helvetica Neue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B1B1B"/>
                </a:solidFill>
                <a:latin typeface="Helvetica Neue"/>
              </a:rPr>
              <a:t>• Source: yc-oss/api (last refresh 2026-02-08 01:49:11.368000+00:00).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B1B1B"/>
                </a:solidFill>
                <a:latin typeface="Helvetica Neue"/>
              </a:rPr>
              <a:t>• Coverage: 132 of 196 from yc-oss/api.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B1B1B"/>
                </a:solidFill>
                <a:latin typeface="Helvetica Neue"/>
              </a:rPr>
              <a:t>• Tier A: 120 · Tier B: 4 · Tier C (excluded):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B1B1B"/>
                </a:solidFill>
                <a:latin typeface="Helvetica Neue"/>
              </a:rPr>
              <a:t>• LLM cohort: 113 high + 0 medium (11 low excluded). Sonnet 4.6 via Agent SDK.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B1B1B"/>
                </a:solidFill>
                <a:latin typeface="Helvetica Neue"/>
              </a:rPr>
              <a:t>• Anti-hallucination Layer 1: pydantic schema, source-URL grounding, two-pass cross-check, sentinel on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B1B1B"/>
                </a:solidFill>
                <a:latin typeface="Helvetica Neue"/>
              </a:rPr>
              <a:t>• Anti-hallucination Layer 2 (this deck): forbidden-phrase scan + numerical-drift check before write.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B1B1B"/>
                </a:solidFill>
                <a:latin typeface="Helvetica Neue"/>
              </a:rPr>
              <a:t>• Depth=1 website crawl: polite (robots-aware, max 5 pages, 30 KB cap, PII stripped before the LLM).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6B6B"/>
                </a:solidFill>
                <a:latin typeface="Helvetica Neue"/>
              </a:rPr>
              <a:t>Source: github.com/RyanAlberts/yc-ai-pulse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731520" cy="73152"/>
          </a:xfrm>
          <a:prstGeom prst="rect">
            <a:avLst/>
          </a:prstGeom>
          <a:solidFill>
            <a:srgbClr val="D24E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B1B1B"/>
                </a:solidFill>
                <a:latin typeface="Helvetica Neue"/>
              </a:rPr>
              <a:t>Reproduce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D24E01"/>
                </a:solidFill>
                <a:latin typeface="Menlo"/>
              </a:rPr>
              <a:t>pipx install yc-ai-pulse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D24E01"/>
                </a:solidFill>
                <a:latin typeface="Menlo"/>
              </a:rPr>
              <a:t>ycai run-coverage --batch winter-2026 --enrich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D24E01"/>
                </a:solidFill>
                <a:latin typeface="Menlo"/>
              </a:rPr>
              <a:t>ycai report winter-2026/  # produces deck.pptx and report.docx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6B6B"/>
                </a:solidFill>
                <a:latin typeface="Helvetica Neue"/>
              </a:rPr>
              <a:t>Source code: github.com/RyanAlberts/yc-ai-pulse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