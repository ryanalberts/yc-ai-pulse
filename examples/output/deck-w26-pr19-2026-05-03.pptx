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548640" y="2194560"/>
            <a:ext cx="1280160" cy="109728"/>
          </a:xfrm>
          <a:prstGeom prst="rect">
            <a:avLst/>
          </a:prstGeom>
          <a:solidFill>
            <a:srgbClr val="D24E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423160"/>
            <a:ext cx="10972800" cy="1828800"/>
          </a:xfrm>
          <a:prstGeom prst="rect">
            <a:avLst/>
          </a:prstGeom>
          <a:noFill/>
        </p:spPr>
        <p:txBody>
          <a:bodyPr wrap="square">
            <a:spAutoFit/>
          </a:bodyPr>
          <a:lstStyle/>
          <a:p>
            <a:r>
              <a:rPr sz="5800" b="1">
                <a:solidFill>
                  <a:srgbClr val="1B1B1B"/>
                </a:solidFill>
                <a:latin typeface="Helvetica Neue"/>
              </a:rPr>
              <a:t>The State of AI in Winter 2026</a:t>
            </a:r>
          </a:p>
        </p:txBody>
      </p:sp>
      <p:sp>
        <p:nvSpPr>
          <p:cNvPr id="4" name="TextBox 3"/>
          <p:cNvSpPr txBox="1"/>
          <p:nvPr/>
        </p:nvSpPr>
        <p:spPr>
          <a:xfrm>
            <a:off x="548640" y="4023360"/>
            <a:ext cx="10972800" cy="1097280"/>
          </a:xfrm>
          <a:prstGeom prst="rect">
            <a:avLst/>
          </a:prstGeom>
          <a:noFill/>
        </p:spPr>
        <p:txBody>
          <a:bodyPr wrap="square">
            <a:spAutoFit/>
          </a:bodyPr>
          <a:lstStyle/>
          <a:p>
            <a:r>
              <a:rPr sz="2200" b="0">
                <a:solidFill>
                  <a:srgbClr val="6B6B6B"/>
                </a:solidFill>
                <a:latin typeface="Helvetica Neue"/>
              </a:rPr>
              <a:t>63.3% of the batch analyzed under strict anti-hallucination guards. 105 companies in the high-confidence cohort.</a:t>
            </a:r>
          </a:p>
        </p:txBody>
      </p:sp>
      <p:sp>
        <p:nvSpPr>
          <p:cNvPr id="5" name="TextBox 4"/>
          <p:cNvSpPr txBox="1"/>
          <p:nvPr/>
        </p:nvSpPr>
        <p:spPr>
          <a:xfrm>
            <a:off x="548640" y="5943600"/>
            <a:ext cx="10972800" cy="365760"/>
          </a:xfrm>
          <a:prstGeom prst="rect">
            <a:avLst/>
          </a:prstGeom>
          <a:noFill/>
        </p:spPr>
        <p:txBody>
          <a:bodyPr wrap="square">
            <a:spAutoFit/>
          </a:bodyPr>
          <a:lstStyle/>
          <a:p>
            <a:r>
              <a:rPr sz="1200" b="0">
                <a:solidFill>
                  <a:srgbClr val="6B6B6B"/>
                </a:solidFill>
                <a:latin typeface="Helvetica Neue"/>
              </a:rPr>
              <a:t>yc-ai-pulse · generated 2026-05-03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548640" y="548640"/>
            <a:ext cx="731520" cy="73152"/>
          </a:xfrm>
          <a:prstGeom prst="rect">
            <a:avLst/>
          </a:prstGeom>
          <a:solidFill>
            <a:srgbClr val="D24E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10972800" cy="914400"/>
          </a:xfrm>
          <a:prstGeom prst="rect">
            <a:avLst/>
          </a:prstGeom>
          <a:noFill/>
        </p:spPr>
        <p:txBody>
          <a:bodyPr wrap="square">
            <a:spAutoFit/>
          </a:bodyPr>
          <a:lstStyle/>
          <a:p>
            <a:r>
              <a:rPr sz="4400" b="1">
                <a:solidFill>
                  <a:srgbClr val="1B1B1B"/>
                </a:solidFill>
                <a:latin typeface="Helvetica Neue"/>
              </a:rPr>
              <a:t>TL;DR</a:t>
            </a:r>
          </a:p>
        </p:txBody>
      </p:sp>
      <p:sp>
        <p:nvSpPr>
          <p:cNvPr id="4" name="TextBox 3"/>
          <p:cNvSpPr txBox="1"/>
          <p:nvPr/>
        </p:nvSpPr>
        <p:spPr>
          <a:xfrm>
            <a:off x="548640" y="2011680"/>
            <a:ext cx="10972800" cy="822960"/>
          </a:xfrm>
          <a:prstGeom prst="rect">
            <a:avLst/>
          </a:prstGeom>
          <a:noFill/>
        </p:spPr>
        <p:txBody>
          <a:bodyPr wrap="square">
            <a:spAutoFit/>
          </a:bodyPr>
          <a:lstStyle/>
          <a:p>
            <a:r>
              <a:rPr sz="2200" b="0">
                <a:solidFill>
                  <a:srgbClr val="1B1B1B"/>
                </a:solidFill>
                <a:latin typeface="Helvetica Neue"/>
              </a:rPr>
              <a:t>• 60 of 105 high-confidence companies build agents.</a:t>
            </a:r>
          </a:p>
        </p:txBody>
      </p:sp>
      <p:sp>
        <p:nvSpPr>
          <p:cNvPr id="5" name="TextBox 4"/>
          <p:cNvSpPr txBox="1"/>
          <p:nvPr/>
        </p:nvSpPr>
        <p:spPr>
          <a:xfrm>
            <a:off x="548640" y="2926080"/>
            <a:ext cx="10972800" cy="822960"/>
          </a:xfrm>
          <a:prstGeom prst="rect">
            <a:avLst/>
          </a:prstGeom>
          <a:noFill/>
        </p:spPr>
        <p:txBody>
          <a:bodyPr wrap="square">
            <a:spAutoFit/>
          </a:bodyPr>
          <a:lstStyle/>
          <a:p>
            <a:r>
              <a:rPr sz="2200" b="0">
                <a:solidFill>
                  <a:srgbClr val="1B1B1B"/>
                </a:solidFill>
                <a:latin typeface="Helvetica Neue"/>
              </a:rPr>
              <a:t>• 6 companies were classified as no-ai despite being in the YC AI batch.</a:t>
            </a:r>
          </a:p>
        </p:txBody>
      </p:sp>
      <p:sp>
        <p:nvSpPr>
          <p:cNvPr id="6" name="TextBox 5"/>
          <p:cNvSpPr txBox="1"/>
          <p:nvPr/>
        </p:nvSpPr>
        <p:spPr>
          <a:xfrm>
            <a:off x="548640" y="3840480"/>
            <a:ext cx="10972800" cy="822960"/>
          </a:xfrm>
          <a:prstGeom prst="rect">
            <a:avLst/>
          </a:prstGeom>
          <a:noFill/>
        </p:spPr>
        <p:txBody>
          <a:bodyPr wrap="square">
            <a:spAutoFit/>
          </a:bodyPr>
          <a:lstStyle/>
          <a:p>
            <a:r>
              <a:rPr sz="2200" b="0">
                <a:solidFill>
                  <a:srgbClr val="1B1B1B"/>
                </a:solidFill>
                <a:latin typeface="Helvetica Neue"/>
              </a:rPr>
              <a:t>• OSS posture: 64 closed, 28 unknown, 9 api-only.</a:t>
            </a:r>
          </a:p>
        </p:txBody>
      </p:sp>
      <p:sp>
        <p:nvSpPr>
          <p:cNvPr id="7" name="TextBox 6"/>
          <p:cNvSpPr txBox="1"/>
          <p:nvPr/>
        </p:nvSpPr>
        <p:spPr>
          <a:xfrm>
            <a:off x="457200" y="6446520"/>
            <a:ext cx="11247120" cy="365760"/>
          </a:xfrm>
          <a:prstGeom prst="rect">
            <a:avLst/>
          </a:prstGeom>
          <a:noFill/>
        </p:spPr>
        <p:txBody>
          <a:bodyPr wrap="square">
            <a:spAutoFit/>
          </a:bodyPr>
          <a:lstStyle/>
          <a:p>
            <a:r>
              <a:rPr sz="1000" b="0">
                <a:solidFill>
                  <a:srgbClr val="6B6B6B"/>
                </a:solidFill>
                <a:latin typeface="Helvetica Neue"/>
              </a:rPr>
              <a:t>Source: github.com/RyanAlberts/yc-ai-pulse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548640" y="548640"/>
            <a:ext cx="731520" cy="73152"/>
          </a:xfrm>
          <a:prstGeom prst="rect">
            <a:avLst/>
          </a:prstGeom>
          <a:solidFill>
            <a:srgbClr val="D24E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10972800" cy="914400"/>
          </a:xfrm>
          <a:prstGeom prst="rect">
            <a:avLst/>
          </a:prstGeom>
          <a:noFill/>
        </p:spPr>
        <p:txBody>
          <a:bodyPr wrap="square">
            <a:spAutoFit/>
          </a:bodyPr>
          <a:lstStyle/>
          <a:p>
            <a:r>
              <a:rPr sz="3200" b="1">
                <a:solidFill>
                  <a:srgbClr val="1B1B1B"/>
                </a:solidFill>
                <a:latin typeface="Helvetica Neue"/>
              </a:rPr>
              <a:t>Three views of this batch</a:t>
            </a:r>
          </a:p>
        </p:txBody>
      </p:sp>
      <p:sp>
        <p:nvSpPr>
          <p:cNvPr id="4" name="TextBox 3"/>
          <p:cNvSpPr txBox="1"/>
          <p:nvPr/>
        </p:nvSpPr>
        <p:spPr>
          <a:xfrm>
            <a:off x="548640" y="1737360"/>
            <a:ext cx="10972800" cy="731520"/>
          </a:xfrm>
          <a:prstGeom prst="rect">
            <a:avLst/>
          </a:prstGeom>
          <a:noFill/>
        </p:spPr>
        <p:txBody>
          <a:bodyPr wrap="square">
            <a:spAutoFit/>
          </a:bodyPr>
          <a:lstStyle/>
          <a:p>
            <a:r>
              <a:rPr sz="1400" b="0">
                <a:solidFill>
                  <a:srgbClr val="6B6B6B"/>
                </a:solidFill>
                <a:latin typeface="Helvetica Neue"/>
              </a:rPr>
              <a:t>What this data implies for capital allocation depends on whose frame you adopt. The memo does not pick a winner.</a:t>
            </a:r>
          </a:p>
        </p:txBody>
      </p:sp>
      <p:sp>
        <p:nvSpPr>
          <p:cNvPr id="5" name="TextBox 4"/>
          <p:cNvSpPr txBox="1"/>
          <p:nvPr/>
        </p:nvSpPr>
        <p:spPr>
          <a:xfrm>
            <a:off x="548640" y="2651760"/>
            <a:ext cx="3657600" cy="548640"/>
          </a:xfrm>
          <a:prstGeom prst="rect">
            <a:avLst/>
          </a:prstGeom>
          <a:noFill/>
        </p:spPr>
        <p:txBody>
          <a:bodyPr wrap="square">
            <a:spAutoFit/>
          </a:bodyPr>
          <a:lstStyle/>
          <a:p>
            <a:r>
              <a:rPr sz="2000" b="1">
                <a:solidFill>
                  <a:srgbClr val="D24E01"/>
                </a:solidFill>
                <a:latin typeface="Helvetica Neue"/>
              </a:rPr>
              <a:t>Marc Andreessen</a:t>
            </a:r>
          </a:p>
        </p:txBody>
      </p:sp>
      <p:sp>
        <p:nvSpPr>
          <p:cNvPr id="6" name="TextBox 5"/>
          <p:cNvSpPr txBox="1"/>
          <p:nvPr/>
        </p:nvSpPr>
        <p:spPr>
          <a:xfrm>
            <a:off x="548640" y="3200400"/>
            <a:ext cx="3657600" cy="365760"/>
          </a:xfrm>
          <a:prstGeom prst="rect">
            <a:avLst/>
          </a:prstGeom>
          <a:noFill/>
        </p:spPr>
        <p:txBody>
          <a:bodyPr wrap="square">
            <a:spAutoFit/>
          </a:bodyPr>
          <a:lstStyle/>
          <a:p>
            <a:r>
              <a:rPr sz="1200" b="0">
                <a:solidFill>
                  <a:srgbClr val="6B6B6B"/>
                </a:solidFill>
                <a:latin typeface="Helvetica Neue"/>
              </a:rPr>
              <a:t>a16z</a:t>
            </a:r>
          </a:p>
        </p:txBody>
      </p:sp>
      <p:sp>
        <p:nvSpPr>
          <p:cNvPr id="7" name="TextBox 6"/>
          <p:cNvSpPr txBox="1"/>
          <p:nvPr/>
        </p:nvSpPr>
        <p:spPr>
          <a:xfrm>
            <a:off x="548640" y="3657600"/>
            <a:ext cx="3657600" cy="1828800"/>
          </a:xfrm>
          <a:prstGeom prst="rect">
            <a:avLst/>
          </a:prstGeom>
          <a:noFill/>
        </p:spPr>
        <p:txBody>
          <a:bodyPr wrap="square">
            <a:spAutoFit/>
          </a:bodyPr>
          <a:lstStyle/>
          <a:p>
            <a:r>
              <a:rPr sz="1300" b="0">
                <a:solidFill>
                  <a:srgbClr val="1B1B1B"/>
                </a:solidFill>
                <a:latin typeface="Helvetica Neue"/>
              </a:rPr>
              <a:t>AI is the dominant industrial transition of our generation; concentrate capital in the winners; regulation is the existential threat.</a:t>
            </a:r>
          </a:p>
        </p:txBody>
      </p:sp>
      <p:sp>
        <p:nvSpPr>
          <p:cNvPr id="8" name="TextBox 7"/>
          <p:cNvSpPr txBox="1"/>
          <p:nvPr/>
        </p:nvSpPr>
        <p:spPr>
          <a:xfrm>
            <a:off x="548640" y="5669280"/>
            <a:ext cx="3657600" cy="365760"/>
          </a:xfrm>
          <a:prstGeom prst="rect">
            <a:avLst/>
          </a:prstGeom>
          <a:noFill/>
        </p:spPr>
        <p:txBody>
          <a:bodyPr wrap="square">
            <a:spAutoFit/>
          </a:bodyPr>
          <a:lstStyle/>
          <a:p>
            <a:r>
              <a:rPr sz="1000" b="0">
                <a:solidFill>
                  <a:srgbClr val="6B6B6B"/>
                </a:solidFill>
                <a:latin typeface="Helvetica Neue"/>
              </a:rPr>
              <a:t>The Techno-Optimist Manifesto (2023), a16z.com</a:t>
            </a:r>
          </a:p>
        </p:txBody>
      </p:sp>
      <p:sp>
        <p:nvSpPr>
          <p:cNvPr id="9" name="TextBox 8"/>
          <p:cNvSpPr txBox="1"/>
          <p:nvPr/>
        </p:nvSpPr>
        <p:spPr>
          <a:xfrm>
            <a:off x="4434840" y="2651760"/>
            <a:ext cx="3657600" cy="548640"/>
          </a:xfrm>
          <a:prstGeom prst="rect">
            <a:avLst/>
          </a:prstGeom>
          <a:noFill/>
        </p:spPr>
        <p:txBody>
          <a:bodyPr wrap="square">
            <a:spAutoFit/>
          </a:bodyPr>
          <a:lstStyle/>
          <a:p>
            <a:r>
              <a:rPr sz="2000" b="1">
                <a:solidFill>
                  <a:srgbClr val="D24E01"/>
                </a:solidFill>
                <a:latin typeface="Helvetica Neue"/>
              </a:rPr>
              <a:t>Ray Dalio</a:t>
            </a:r>
          </a:p>
        </p:txBody>
      </p:sp>
      <p:sp>
        <p:nvSpPr>
          <p:cNvPr id="10" name="TextBox 9"/>
          <p:cNvSpPr txBox="1"/>
          <p:nvPr/>
        </p:nvSpPr>
        <p:spPr>
          <a:xfrm>
            <a:off x="4434840" y="3200400"/>
            <a:ext cx="3657600" cy="365760"/>
          </a:xfrm>
          <a:prstGeom prst="rect">
            <a:avLst/>
          </a:prstGeom>
          <a:noFill/>
        </p:spPr>
        <p:txBody>
          <a:bodyPr wrap="square">
            <a:spAutoFit/>
          </a:bodyPr>
          <a:lstStyle/>
          <a:p>
            <a:r>
              <a:rPr sz="1200" b="0">
                <a:solidFill>
                  <a:srgbClr val="6B6B6B"/>
                </a:solidFill>
                <a:latin typeface="Helvetica Neue"/>
              </a:rPr>
              <a:t>Bridgewater</a:t>
            </a:r>
          </a:p>
        </p:txBody>
      </p:sp>
      <p:sp>
        <p:nvSpPr>
          <p:cNvPr id="11" name="TextBox 10"/>
          <p:cNvSpPr txBox="1"/>
          <p:nvPr/>
        </p:nvSpPr>
        <p:spPr>
          <a:xfrm>
            <a:off x="4434840" y="3657600"/>
            <a:ext cx="3657600" cy="1828800"/>
          </a:xfrm>
          <a:prstGeom prst="rect">
            <a:avLst/>
          </a:prstGeom>
          <a:noFill/>
        </p:spPr>
        <p:txBody>
          <a:bodyPr wrap="square">
            <a:spAutoFit/>
          </a:bodyPr>
          <a:lstStyle/>
          <a:p>
            <a:r>
              <a:rPr sz="1300" b="0">
                <a:solidFill>
                  <a:srgbClr val="1B1B1B"/>
                </a:solidFill>
                <a:latin typeface="Helvetica Neue"/>
              </a:rPr>
              <a:t>AI is real but is one factor among many; debt cycles, monetary regimes, and geopolitical realignment dominate; diversify.</a:t>
            </a:r>
          </a:p>
        </p:txBody>
      </p:sp>
      <p:sp>
        <p:nvSpPr>
          <p:cNvPr id="12" name="TextBox 11"/>
          <p:cNvSpPr txBox="1"/>
          <p:nvPr/>
        </p:nvSpPr>
        <p:spPr>
          <a:xfrm>
            <a:off x="4434840" y="5669280"/>
            <a:ext cx="3657600" cy="365760"/>
          </a:xfrm>
          <a:prstGeom prst="rect">
            <a:avLst/>
          </a:prstGeom>
          <a:noFill/>
        </p:spPr>
        <p:txBody>
          <a:bodyPr wrap="square">
            <a:spAutoFit/>
          </a:bodyPr>
          <a:lstStyle/>
          <a:p>
            <a:r>
              <a:rPr sz="1000" b="0">
                <a:solidFill>
                  <a:srgbClr val="6B6B6B"/>
                </a:solidFill>
                <a:latin typeface="Helvetica Neue"/>
              </a:rPr>
              <a:t>Principles for Dealing with the Changing World Order, ongoing essays</a:t>
            </a:r>
          </a:p>
        </p:txBody>
      </p:sp>
      <p:sp>
        <p:nvSpPr>
          <p:cNvPr id="13" name="TextBox 12"/>
          <p:cNvSpPr txBox="1"/>
          <p:nvPr/>
        </p:nvSpPr>
        <p:spPr>
          <a:xfrm>
            <a:off x="8321040" y="2651760"/>
            <a:ext cx="3657600" cy="548640"/>
          </a:xfrm>
          <a:prstGeom prst="rect">
            <a:avLst/>
          </a:prstGeom>
          <a:noFill/>
        </p:spPr>
        <p:txBody>
          <a:bodyPr wrap="square">
            <a:spAutoFit/>
          </a:bodyPr>
          <a:lstStyle/>
          <a:p>
            <a:r>
              <a:rPr sz="2000" b="1">
                <a:solidFill>
                  <a:srgbClr val="D24E01"/>
                </a:solidFill>
                <a:latin typeface="Helvetica Neue"/>
              </a:rPr>
              <a:t>Daron Acemoglu</a:t>
            </a:r>
          </a:p>
        </p:txBody>
      </p:sp>
      <p:sp>
        <p:nvSpPr>
          <p:cNvPr id="14" name="TextBox 13"/>
          <p:cNvSpPr txBox="1"/>
          <p:nvPr/>
        </p:nvSpPr>
        <p:spPr>
          <a:xfrm>
            <a:off x="8321040" y="3200400"/>
            <a:ext cx="3657600" cy="365760"/>
          </a:xfrm>
          <a:prstGeom prst="rect">
            <a:avLst/>
          </a:prstGeom>
          <a:noFill/>
        </p:spPr>
        <p:txBody>
          <a:bodyPr wrap="square">
            <a:spAutoFit/>
          </a:bodyPr>
          <a:lstStyle/>
          <a:p>
            <a:r>
              <a:rPr sz="1200" b="0">
                <a:solidFill>
                  <a:srgbClr val="6B6B6B"/>
                </a:solidFill>
                <a:latin typeface="Helvetica Neue"/>
              </a:rPr>
              <a:t>MIT, 2024 Nobel laureate in Economics</a:t>
            </a:r>
          </a:p>
        </p:txBody>
      </p:sp>
      <p:sp>
        <p:nvSpPr>
          <p:cNvPr id="15" name="TextBox 14"/>
          <p:cNvSpPr txBox="1"/>
          <p:nvPr/>
        </p:nvSpPr>
        <p:spPr>
          <a:xfrm>
            <a:off x="8321040" y="3657600"/>
            <a:ext cx="3657600" cy="1828800"/>
          </a:xfrm>
          <a:prstGeom prst="rect">
            <a:avLst/>
          </a:prstGeom>
          <a:noFill/>
        </p:spPr>
        <p:txBody>
          <a:bodyPr wrap="square">
            <a:spAutoFit/>
          </a:bodyPr>
          <a:lstStyle/>
          <a:p>
            <a:r>
              <a:rPr sz="1300" b="0">
                <a:solidFill>
                  <a:srgbClr val="1B1B1B"/>
                </a:solidFill>
                <a:latin typeface="Helvetica Neue"/>
              </a:rPr>
              <a:t>AI's productivity claims are likely overstated; total-factor productivity gains over the next decade are estimated at under 0.7%, with the largest distributional risk being labor-displacement-without-reabsorption.</a:t>
            </a:r>
          </a:p>
        </p:txBody>
      </p:sp>
      <p:sp>
        <p:nvSpPr>
          <p:cNvPr id="16" name="TextBox 15"/>
          <p:cNvSpPr txBox="1"/>
          <p:nvPr/>
        </p:nvSpPr>
        <p:spPr>
          <a:xfrm>
            <a:off x="8321040" y="5669280"/>
            <a:ext cx="3657600" cy="365760"/>
          </a:xfrm>
          <a:prstGeom prst="rect">
            <a:avLst/>
          </a:prstGeom>
          <a:noFill/>
        </p:spPr>
        <p:txBody>
          <a:bodyPr wrap="square">
            <a:spAutoFit/>
          </a:bodyPr>
          <a:lstStyle/>
          <a:p>
            <a:r>
              <a:rPr sz="1000" b="0">
                <a:solidFill>
                  <a:srgbClr val="6B6B6B"/>
                </a:solidFill>
                <a:latin typeface="Helvetica Neue"/>
              </a:rPr>
              <a:t>NBER working paper 32487 (2024) and related work</a:t>
            </a:r>
          </a:p>
        </p:txBody>
      </p:sp>
      <p:sp>
        <p:nvSpPr>
          <p:cNvPr id="17" name="TextBox 16"/>
          <p:cNvSpPr txBox="1"/>
          <p:nvPr/>
        </p:nvSpPr>
        <p:spPr>
          <a:xfrm>
            <a:off x="457200" y="6446520"/>
            <a:ext cx="11247120" cy="365760"/>
          </a:xfrm>
          <a:prstGeom prst="rect">
            <a:avLst/>
          </a:prstGeom>
          <a:noFill/>
        </p:spPr>
        <p:txBody>
          <a:bodyPr wrap="square">
            <a:spAutoFit/>
          </a:bodyPr>
          <a:lstStyle/>
          <a:p>
            <a:r>
              <a:rPr sz="1000" b="0">
                <a:solidFill>
                  <a:srgbClr val="6B6B6B"/>
                </a:solidFill>
                <a:latin typeface="Helvetica Neue"/>
              </a:rPr>
              <a:t>Source: ADR 0003 in github.com/RyanAlberts/yc-ai-pulse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548640" y="548640"/>
            <a:ext cx="731520" cy="73152"/>
          </a:xfrm>
          <a:prstGeom prst="rect">
            <a:avLst/>
          </a:prstGeom>
          <a:solidFill>
            <a:srgbClr val="D24E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10972800" cy="914400"/>
          </a:xfrm>
          <a:prstGeom prst="rect">
            <a:avLst/>
          </a:prstGeom>
          <a:noFill/>
        </p:spPr>
        <p:txBody>
          <a:bodyPr wrap="square">
            <a:spAutoFit/>
          </a:bodyPr>
          <a:lstStyle/>
          <a:p>
            <a:r>
              <a:rPr sz="3200" b="1">
                <a:solidFill>
                  <a:srgbClr val="1B1B1B"/>
                </a:solidFill>
                <a:latin typeface="Helvetica Neue"/>
              </a:rPr>
              <a:t>Industry distribution</a:t>
            </a:r>
          </a:p>
        </p:txBody>
      </p:sp>
      <p:pic>
        <p:nvPicPr>
          <p:cNvPr id="4" name="Picture 3" descr="image.png"/>
          <p:cNvPicPr>
            <a:picLocks noChangeAspect="1"/>
          </p:cNvPicPr>
          <p:nvPr/>
        </p:nvPicPr>
        <p:blipFill>
          <a:blip r:embed="rId2"/>
          <a:stretch>
            <a:fillRect/>
          </a:stretch>
        </p:blipFill>
        <p:spPr>
          <a:xfrm>
            <a:off x="457200" y="1737360"/>
            <a:ext cx="7772400" cy="4206240"/>
          </a:xfrm>
          <a:prstGeom prst="rect">
            <a:avLst/>
          </a:prstGeom>
        </p:spPr>
      </p:pic>
      <p:sp>
        <p:nvSpPr>
          <p:cNvPr id="5" name="TextBox 4"/>
          <p:cNvSpPr txBox="1"/>
          <p:nvPr/>
        </p:nvSpPr>
        <p:spPr>
          <a:xfrm>
            <a:off x="8503920" y="1737360"/>
            <a:ext cx="3200400" cy="4206240"/>
          </a:xfrm>
          <a:prstGeom prst="rect">
            <a:avLst/>
          </a:prstGeom>
          <a:noFill/>
        </p:spPr>
        <p:txBody>
          <a:bodyPr wrap="square">
            <a:spAutoFit/>
          </a:bodyPr>
          <a:lstStyle/>
          <a:p>
            <a:r>
              <a:rPr sz="1400" b="0">
                <a:solidFill>
                  <a:srgbClr val="1B1B1B"/>
                </a:solidFill>
                <a:latin typeface="Helvetica Neue"/>
              </a:rPr>
              <a:t>Top: 26 B2B SaaS, 15 AI Infrastructure, 9 Fintech. Cohort: 105 high+medium-confidence companies.</a:t>
            </a:r>
          </a:p>
        </p:txBody>
      </p:sp>
      <p:sp>
        <p:nvSpPr>
          <p:cNvPr id="6" name="TextBox 5"/>
          <p:cNvSpPr txBox="1"/>
          <p:nvPr/>
        </p:nvSpPr>
        <p:spPr>
          <a:xfrm>
            <a:off x="457200" y="6446520"/>
            <a:ext cx="11247120" cy="365760"/>
          </a:xfrm>
          <a:prstGeom prst="rect">
            <a:avLst/>
          </a:prstGeom>
          <a:noFill/>
        </p:spPr>
        <p:txBody>
          <a:bodyPr wrap="square">
            <a:spAutoFit/>
          </a:bodyPr>
          <a:lstStyle/>
          <a:p>
            <a:r>
              <a:rPr sz="1000" b="0">
                <a:solidFill>
                  <a:srgbClr val="6B6B6B"/>
                </a:solidFill>
                <a:latin typeface="Helvetica Neue"/>
              </a:rPr>
              <a:t>Source: github.com/RyanAlberts/yc-ai-pulse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1371600" y="2194560"/>
            <a:ext cx="9601200" cy="2286000"/>
          </a:xfrm>
          <a:prstGeom prst="rect">
            <a:avLst/>
          </a:prstGeom>
          <a:noFill/>
        </p:spPr>
        <p:txBody>
          <a:bodyPr wrap="square">
            <a:spAutoFit/>
          </a:bodyPr>
          <a:lstStyle/>
          <a:p>
            <a:r>
              <a:rPr sz="3600" b="1">
                <a:solidFill>
                  <a:srgbClr val="1B1B1B"/>
                </a:solidFill>
                <a:latin typeface="Helvetica Neue"/>
              </a:rPr>
              <a:t>"AI platform for protein characterization and quality assessment, unblocking the biopharma development bottleneck created by AI-accelerated …"</a:t>
            </a:r>
          </a:p>
        </p:txBody>
      </p:sp>
      <p:sp>
        <p:nvSpPr>
          <p:cNvPr id="3" name="TextBox 2"/>
          <p:cNvSpPr txBox="1"/>
          <p:nvPr/>
        </p:nvSpPr>
        <p:spPr>
          <a:xfrm>
            <a:off x="1371600" y="4389120"/>
            <a:ext cx="9601200" cy="548640"/>
          </a:xfrm>
          <a:prstGeom prst="rect">
            <a:avLst/>
          </a:prstGeom>
          <a:noFill/>
        </p:spPr>
        <p:txBody>
          <a:bodyPr wrap="square">
            <a:spAutoFit/>
          </a:bodyPr>
          <a:lstStyle/>
          <a:p>
            <a:r>
              <a:rPr sz="1800" b="0">
                <a:solidFill>
                  <a:srgbClr val="6B6B6B"/>
                </a:solidFill>
                <a:latin typeface="Helvetica Neue"/>
              </a:rPr>
              <a:t>— 10x-science</a:t>
            </a:r>
          </a:p>
        </p:txBody>
      </p:sp>
      <p:sp>
        <p:nvSpPr>
          <p:cNvPr id="4" name="TextBox 3"/>
          <p:cNvSpPr txBox="1"/>
          <p:nvPr/>
        </p:nvSpPr>
        <p:spPr>
          <a:xfrm>
            <a:off x="457200" y="6446520"/>
            <a:ext cx="11247120" cy="365760"/>
          </a:xfrm>
          <a:prstGeom prst="rect">
            <a:avLst/>
          </a:prstGeom>
          <a:noFill/>
        </p:spPr>
        <p:txBody>
          <a:bodyPr wrap="square">
            <a:spAutoFit/>
          </a:bodyPr>
          <a:lstStyle/>
          <a:p>
            <a:r>
              <a:rPr sz="1000" b="0">
                <a:solidFill>
                  <a:srgbClr val="6B6B6B"/>
                </a:solidFill>
                <a:latin typeface="Helvetica Neue"/>
              </a:rPr>
              <a:t>Source: https://www.ycombinator.com/companies/10x-science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548640" y="548640"/>
            <a:ext cx="731520" cy="73152"/>
          </a:xfrm>
          <a:prstGeom prst="rect">
            <a:avLst/>
          </a:prstGeom>
          <a:solidFill>
            <a:srgbClr val="D24E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10972800" cy="914400"/>
          </a:xfrm>
          <a:prstGeom prst="rect">
            <a:avLst/>
          </a:prstGeom>
          <a:noFill/>
        </p:spPr>
        <p:txBody>
          <a:bodyPr wrap="square">
            <a:spAutoFit/>
          </a:bodyPr>
          <a:lstStyle/>
          <a:p>
            <a:r>
              <a:rPr sz="3200" b="1">
                <a:solidFill>
                  <a:srgbClr val="1B1B1B"/>
                </a:solidFill>
                <a:latin typeface="Helvetica Neue"/>
              </a:rPr>
              <a:t>AI capability x industry heatmap</a:t>
            </a:r>
          </a:p>
        </p:txBody>
      </p:sp>
      <p:pic>
        <p:nvPicPr>
          <p:cNvPr id="4" name="Picture 3" descr="image.png"/>
          <p:cNvPicPr>
            <a:picLocks noChangeAspect="1"/>
          </p:cNvPicPr>
          <p:nvPr/>
        </p:nvPicPr>
        <p:blipFill>
          <a:blip r:embed="rId2"/>
          <a:stretch>
            <a:fillRect/>
          </a:stretch>
        </p:blipFill>
        <p:spPr>
          <a:xfrm>
            <a:off x="457200" y="1737360"/>
            <a:ext cx="7772400" cy="4206240"/>
          </a:xfrm>
          <a:prstGeom prst="rect">
            <a:avLst/>
          </a:prstGeom>
        </p:spPr>
      </p:pic>
      <p:sp>
        <p:nvSpPr>
          <p:cNvPr id="5" name="TextBox 4"/>
          <p:cNvSpPr txBox="1"/>
          <p:nvPr/>
        </p:nvSpPr>
        <p:spPr>
          <a:xfrm>
            <a:off x="8503920" y="1737360"/>
            <a:ext cx="3200400" cy="4206240"/>
          </a:xfrm>
          <a:prstGeom prst="rect">
            <a:avLst/>
          </a:prstGeom>
          <a:noFill/>
        </p:spPr>
        <p:txBody>
          <a:bodyPr wrap="square">
            <a:spAutoFit/>
          </a:bodyPr>
          <a:lstStyle/>
          <a:p>
            <a:r>
              <a:rPr sz="1400" b="0">
                <a:solidFill>
                  <a:srgbClr val="1B1B1B"/>
                </a:solidFill>
                <a:latin typeface="Helvetica Neue"/>
              </a:rPr>
              <a:t>Top capability: agents (60 of 105). Cell label = number of companies pairing that capability with that industry.</a:t>
            </a:r>
          </a:p>
        </p:txBody>
      </p:sp>
      <p:sp>
        <p:nvSpPr>
          <p:cNvPr id="6" name="TextBox 5"/>
          <p:cNvSpPr txBox="1"/>
          <p:nvPr/>
        </p:nvSpPr>
        <p:spPr>
          <a:xfrm>
            <a:off x="457200" y="6446520"/>
            <a:ext cx="11247120" cy="365760"/>
          </a:xfrm>
          <a:prstGeom prst="rect">
            <a:avLst/>
          </a:prstGeom>
          <a:noFill/>
        </p:spPr>
        <p:txBody>
          <a:bodyPr wrap="square">
            <a:spAutoFit/>
          </a:bodyPr>
          <a:lstStyle/>
          <a:p>
            <a:r>
              <a:rPr sz="1000" b="0">
                <a:solidFill>
                  <a:srgbClr val="6B6B6B"/>
                </a:solidFill>
                <a:latin typeface="Helvetica Neue"/>
              </a:rPr>
              <a:t>Source: github.com/RyanAlberts/yc-ai-pulse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548640" y="548640"/>
            <a:ext cx="731520" cy="73152"/>
          </a:xfrm>
          <a:prstGeom prst="rect">
            <a:avLst/>
          </a:prstGeom>
          <a:solidFill>
            <a:srgbClr val="D24E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10972800" cy="914400"/>
          </a:xfrm>
          <a:prstGeom prst="rect">
            <a:avLst/>
          </a:prstGeom>
          <a:noFill/>
        </p:spPr>
        <p:txBody>
          <a:bodyPr wrap="square">
            <a:spAutoFit/>
          </a:bodyPr>
          <a:lstStyle/>
          <a:p>
            <a:r>
              <a:rPr sz="3200" b="1">
                <a:solidFill>
                  <a:srgbClr val="1B1B1B"/>
                </a:solidFill>
                <a:latin typeface="Helvetica Neue"/>
              </a:rPr>
              <a:t>Tech stack signals</a:t>
            </a:r>
          </a:p>
        </p:txBody>
      </p:sp>
      <p:pic>
        <p:nvPicPr>
          <p:cNvPr id="4" name="Picture 3" descr="image.png"/>
          <p:cNvPicPr>
            <a:picLocks noChangeAspect="1"/>
          </p:cNvPicPr>
          <p:nvPr/>
        </p:nvPicPr>
        <p:blipFill>
          <a:blip r:embed="rId2"/>
          <a:stretch>
            <a:fillRect/>
          </a:stretch>
        </p:blipFill>
        <p:spPr>
          <a:xfrm>
            <a:off x="457200" y="1737360"/>
            <a:ext cx="7772400" cy="4206240"/>
          </a:xfrm>
          <a:prstGeom prst="rect">
            <a:avLst/>
          </a:prstGeom>
        </p:spPr>
      </p:pic>
      <p:sp>
        <p:nvSpPr>
          <p:cNvPr id="5" name="TextBox 4"/>
          <p:cNvSpPr txBox="1"/>
          <p:nvPr/>
        </p:nvSpPr>
        <p:spPr>
          <a:xfrm>
            <a:off x="8503920" y="1737360"/>
            <a:ext cx="3200400" cy="4206240"/>
          </a:xfrm>
          <a:prstGeom prst="rect">
            <a:avLst/>
          </a:prstGeom>
          <a:noFill/>
        </p:spPr>
        <p:txBody>
          <a:bodyPr wrap="square">
            <a:spAutoFit/>
          </a:bodyPr>
          <a:lstStyle/>
          <a:p>
            <a:r>
              <a:rPr sz="1400" b="0">
                <a:solidFill>
                  <a:srgbClr val="1B1B1B"/>
                </a:solidFill>
                <a:latin typeface="Helvetica Neue"/>
              </a:rPr>
              <a:t>Many companies returned tech_stack=unknown — the LLM can only cite what's visible on the website. The named entries are the model providers and frameworks the model could verify from public surfaces.</a:t>
            </a:r>
          </a:p>
        </p:txBody>
      </p:sp>
      <p:sp>
        <p:nvSpPr>
          <p:cNvPr id="6" name="TextBox 5"/>
          <p:cNvSpPr txBox="1"/>
          <p:nvPr/>
        </p:nvSpPr>
        <p:spPr>
          <a:xfrm>
            <a:off x="457200" y="6446520"/>
            <a:ext cx="11247120" cy="365760"/>
          </a:xfrm>
          <a:prstGeom prst="rect">
            <a:avLst/>
          </a:prstGeom>
          <a:noFill/>
        </p:spPr>
        <p:txBody>
          <a:bodyPr wrap="square">
            <a:spAutoFit/>
          </a:bodyPr>
          <a:lstStyle/>
          <a:p>
            <a:r>
              <a:rPr sz="1000" b="0">
                <a:solidFill>
                  <a:srgbClr val="6B6B6B"/>
                </a:solidFill>
                <a:latin typeface="Helvetica Neue"/>
              </a:rPr>
              <a:t>Source: github.com/RyanAlberts/yc-ai-pulse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548640" y="548640"/>
            <a:ext cx="731520" cy="73152"/>
          </a:xfrm>
          <a:prstGeom prst="rect">
            <a:avLst/>
          </a:prstGeom>
          <a:solidFill>
            <a:srgbClr val="D24E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10972800" cy="914400"/>
          </a:xfrm>
          <a:prstGeom prst="rect">
            <a:avLst/>
          </a:prstGeom>
          <a:noFill/>
        </p:spPr>
        <p:txBody>
          <a:bodyPr wrap="square">
            <a:spAutoFit/>
          </a:bodyPr>
          <a:lstStyle/>
          <a:p>
            <a:r>
              <a:rPr sz="3200" b="1">
                <a:solidFill>
                  <a:srgbClr val="1B1B1B"/>
                </a:solidFill>
                <a:latin typeface="Helvetica Neue"/>
              </a:rPr>
              <a:t>Open-source posture</a:t>
            </a:r>
          </a:p>
        </p:txBody>
      </p:sp>
      <p:pic>
        <p:nvPicPr>
          <p:cNvPr id="4" name="Picture 3" descr="image.png"/>
          <p:cNvPicPr>
            <a:picLocks noChangeAspect="1"/>
          </p:cNvPicPr>
          <p:nvPr/>
        </p:nvPicPr>
        <p:blipFill>
          <a:blip r:embed="rId2"/>
          <a:stretch>
            <a:fillRect/>
          </a:stretch>
        </p:blipFill>
        <p:spPr>
          <a:xfrm>
            <a:off x="457200" y="1737360"/>
            <a:ext cx="7772400" cy="4206240"/>
          </a:xfrm>
          <a:prstGeom prst="rect">
            <a:avLst/>
          </a:prstGeom>
        </p:spPr>
      </p:pic>
      <p:sp>
        <p:nvSpPr>
          <p:cNvPr id="5" name="TextBox 4"/>
          <p:cNvSpPr txBox="1"/>
          <p:nvPr/>
        </p:nvSpPr>
        <p:spPr>
          <a:xfrm>
            <a:off x="8503920" y="1737360"/>
            <a:ext cx="3200400" cy="4206240"/>
          </a:xfrm>
          <a:prstGeom prst="rect">
            <a:avLst/>
          </a:prstGeom>
          <a:noFill/>
        </p:spPr>
        <p:txBody>
          <a:bodyPr wrap="square">
            <a:spAutoFit/>
          </a:bodyPr>
          <a:lstStyle/>
          <a:p>
            <a:r>
              <a:rPr sz="1400" b="0">
                <a:solidFill>
                  <a:srgbClr val="1B1B1B"/>
                </a:solidFill>
                <a:latin typeface="Helvetica Neue"/>
              </a:rPr>
              <a:t>Closed dominates — typical for B2B SaaS. The unknown slice is the cohort the model could not classify from public surfaces alone.</a:t>
            </a:r>
          </a:p>
        </p:txBody>
      </p:sp>
      <p:sp>
        <p:nvSpPr>
          <p:cNvPr id="6" name="TextBox 5"/>
          <p:cNvSpPr txBox="1"/>
          <p:nvPr/>
        </p:nvSpPr>
        <p:spPr>
          <a:xfrm>
            <a:off x="457200" y="6446520"/>
            <a:ext cx="11247120" cy="365760"/>
          </a:xfrm>
          <a:prstGeom prst="rect">
            <a:avLst/>
          </a:prstGeom>
          <a:noFill/>
        </p:spPr>
        <p:txBody>
          <a:bodyPr wrap="square">
            <a:spAutoFit/>
          </a:bodyPr>
          <a:lstStyle/>
          <a:p>
            <a:r>
              <a:rPr sz="1000" b="0">
                <a:solidFill>
                  <a:srgbClr val="6B6B6B"/>
                </a:solidFill>
                <a:latin typeface="Helvetica Neue"/>
              </a:rPr>
              <a:t>Source: github.com/RyanAlberts/yc-ai-pulse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1371600" y="2194560"/>
            <a:ext cx="9601200" cy="2286000"/>
          </a:xfrm>
          <a:prstGeom prst="rect">
            <a:avLst/>
          </a:prstGeom>
          <a:noFill/>
        </p:spPr>
        <p:txBody>
          <a:bodyPr wrap="square">
            <a:spAutoFit/>
          </a:bodyPr>
          <a:lstStyle/>
          <a:p>
            <a:r>
              <a:rPr sz="3600" b="1">
                <a:solidFill>
                  <a:srgbClr val="1B1B1B"/>
                </a:solidFill>
                <a:latin typeface="Helvetica Neue"/>
              </a:rPr>
              <a:t>"AI agents that automate primary care workflows—prior auths, referrals, risk adjustment—natively inside any EHR for value-based care practic…"</a:t>
            </a:r>
          </a:p>
        </p:txBody>
      </p:sp>
      <p:sp>
        <p:nvSpPr>
          <p:cNvPr id="3" name="TextBox 2"/>
          <p:cNvSpPr txBox="1"/>
          <p:nvPr/>
        </p:nvSpPr>
        <p:spPr>
          <a:xfrm>
            <a:off x="1371600" y="4389120"/>
            <a:ext cx="9601200" cy="548640"/>
          </a:xfrm>
          <a:prstGeom prst="rect">
            <a:avLst/>
          </a:prstGeom>
          <a:noFill/>
        </p:spPr>
        <p:txBody>
          <a:bodyPr wrap="square">
            <a:spAutoFit/>
          </a:bodyPr>
          <a:lstStyle/>
          <a:p>
            <a:r>
              <a:rPr sz="1800" b="0">
                <a:solidFill>
                  <a:srgbClr val="6B6B6B"/>
                </a:solidFill>
                <a:latin typeface="Helvetica Neue"/>
              </a:rPr>
              <a:t>— beacon-health</a:t>
            </a:r>
          </a:p>
        </p:txBody>
      </p:sp>
      <p:sp>
        <p:nvSpPr>
          <p:cNvPr id="4" name="TextBox 3"/>
          <p:cNvSpPr txBox="1"/>
          <p:nvPr/>
        </p:nvSpPr>
        <p:spPr>
          <a:xfrm>
            <a:off x="457200" y="6446520"/>
            <a:ext cx="11247120" cy="365760"/>
          </a:xfrm>
          <a:prstGeom prst="rect">
            <a:avLst/>
          </a:prstGeom>
          <a:noFill/>
        </p:spPr>
        <p:txBody>
          <a:bodyPr wrap="square">
            <a:spAutoFit/>
          </a:bodyPr>
          <a:lstStyle/>
          <a:p>
            <a:r>
              <a:rPr sz="1000" b="0">
                <a:solidFill>
                  <a:srgbClr val="6B6B6B"/>
                </a:solidFill>
                <a:latin typeface="Helvetica Neue"/>
              </a:rPr>
              <a:t>Source: https://www.ycombinator.com/companies/beacon-health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548640" y="548640"/>
            <a:ext cx="731520" cy="73152"/>
          </a:xfrm>
          <a:prstGeom prst="rect">
            <a:avLst/>
          </a:prstGeom>
          <a:solidFill>
            <a:srgbClr val="D24E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10972800" cy="731520"/>
          </a:xfrm>
          <a:prstGeom prst="rect">
            <a:avLst/>
          </a:prstGeom>
          <a:noFill/>
        </p:spPr>
        <p:txBody>
          <a:bodyPr wrap="square">
            <a:spAutoFit/>
          </a:bodyPr>
          <a:lstStyle/>
          <a:p>
            <a:r>
              <a:rPr sz="1400" b="0">
                <a:solidFill>
                  <a:srgbClr val="6B6B6B"/>
                </a:solidFill>
                <a:latin typeface="Helvetica Neue"/>
              </a:rPr>
              <a:t>runanywhere</a:t>
            </a:r>
          </a:p>
        </p:txBody>
      </p:sp>
      <p:sp>
        <p:nvSpPr>
          <p:cNvPr id="4" name="TextBox 3"/>
          <p:cNvSpPr txBox="1"/>
          <p:nvPr/>
        </p:nvSpPr>
        <p:spPr>
          <a:xfrm>
            <a:off x="548640" y="1463040"/>
            <a:ext cx="10972800" cy="1463040"/>
          </a:xfrm>
          <a:prstGeom prst="rect">
            <a:avLst/>
          </a:prstGeom>
          <a:noFill/>
        </p:spPr>
        <p:txBody>
          <a:bodyPr wrap="square">
            <a:spAutoFit/>
          </a:bodyPr>
          <a:lstStyle/>
          <a:p>
            <a:r>
              <a:rPr sz="2800" b="1">
                <a:solidFill>
                  <a:srgbClr val="1B1B1B"/>
                </a:solidFill>
                <a:latin typeface="Helvetica Neue"/>
              </a:rPr>
              <a:t>On-device AI inference runtime + SDK that cuts cloud costs to zero — custom kernels, fleet control plane, enterprise observability.</a:t>
            </a:r>
          </a:p>
        </p:txBody>
      </p:sp>
      <p:sp>
        <p:nvSpPr>
          <p:cNvPr id="5" name="TextBox 4"/>
          <p:cNvSpPr txBox="1"/>
          <p:nvPr/>
        </p:nvSpPr>
        <p:spPr>
          <a:xfrm>
            <a:off x="548640" y="3108960"/>
            <a:ext cx="10972800" cy="457200"/>
          </a:xfrm>
          <a:prstGeom prst="rect">
            <a:avLst/>
          </a:prstGeom>
          <a:noFill/>
        </p:spPr>
        <p:txBody>
          <a:bodyPr wrap="square">
            <a:spAutoFit/>
          </a:bodyPr>
          <a:lstStyle/>
          <a:p>
            <a:r>
              <a:rPr sz="1600" b="0">
                <a:solidFill>
                  <a:srgbClr val="6B6B6B"/>
                </a:solidFill>
                <a:latin typeface="Helvetica Neue"/>
              </a:rPr>
              <a:t>Industry: AI Infrastructure</a:t>
            </a:r>
          </a:p>
        </p:txBody>
      </p:sp>
      <p:sp>
        <p:nvSpPr>
          <p:cNvPr id="6" name="TextBox 5"/>
          <p:cNvSpPr txBox="1"/>
          <p:nvPr/>
        </p:nvSpPr>
        <p:spPr>
          <a:xfrm>
            <a:off x="548640" y="3566160"/>
            <a:ext cx="10972800" cy="457200"/>
          </a:xfrm>
          <a:prstGeom prst="rect">
            <a:avLst/>
          </a:prstGeom>
          <a:noFill/>
        </p:spPr>
        <p:txBody>
          <a:bodyPr wrap="square">
            <a:spAutoFit/>
          </a:bodyPr>
          <a:lstStyle/>
          <a:p>
            <a:r>
              <a:rPr sz="1600" b="0">
                <a:solidFill>
                  <a:srgbClr val="6B6B6B"/>
                </a:solidFill>
                <a:latin typeface="Helvetica Neue"/>
              </a:rPr>
              <a:t>AI capability: inference-infra, speech, voice, vision, multimodal</a:t>
            </a:r>
          </a:p>
        </p:txBody>
      </p:sp>
      <p:sp>
        <p:nvSpPr>
          <p:cNvPr id="7" name="TextBox 6"/>
          <p:cNvSpPr txBox="1"/>
          <p:nvPr/>
        </p:nvSpPr>
        <p:spPr>
          <a:xfrm>
            <a:off x="548640" y="4023360"/>
            <a:ext cx="10972800" cy="457200"/>
          </a:xfrm>
          <a:prstGeom prst="rect">
            <a:avLst/>
          </a:prstGeom>
          <a:noFill/>
        </p:spPr>
        <p:txBody>
          <a:bodyPr wrap="square">
            <a:spAutoFit/>
          </a:bodyPr>
          <a:lstStyle/>
          <a:p>
            <a:r>
              <a:rPr sz="1600" b="0">
                <a:solidFill>
                  <a:srgbClr val="6B6B6B"/>
                </a:solidFill>
                <a:latin typeface="Helvetica Neue"/>
              </a:rPr>
              <a:t>Tech stack: qwen, custom-model</a:t>
            </a:r>
          </a:p>
        </p:txBody>
      </p:sp>
      <p:sp>
        <p:nvSpPr>
          <p:cNvPr id="8" name="TextBox 7"/>
          <p:cNvSpPr txBox="1"/>
          <p:nvPr/>
        </p:nvSpPr>
        <p:spPr>
          <a:xfrm>
            <a:off x="548640" y="4480560"/>
            <a:ext cx="10972800" cy="457200"/>
          </a:xfrm>
          <a:prstGeom prst="rect">
            <a:avLst/>
          </a:prstGeom>
          <a:noFill/>
        </p:spPr>
        <p:txBody>
          <a:bodyPr wrap="square">
            <a:spAutoFit/>
          </a:bodyPr>
          <a:lstStyle/>
          <a:p>
            <a:r>
              <a:rPr sz="1600" b="0">
                <a:solidFill>
                  <a:srgbClr val="6B6B6B"/>
                </a:solidFill>
                <a:latin typeface="Helvetica Neue"/>
              </a:rPr>
              <a:t>OSS posture: source-available</a:t>
            </a:r>
          </a:p>
        </p:txBody>
      </p:sp>
      <p:sp>
        <p:nvSpPr>
          <p:cNvPr id="9" name="TextBox 8"/>
          <p:cNvSpPr txBox="1"/>
          <p:nvPr/>
        </p:nvSpPr>
        <p:spPr>
          <a:xfrm>
            <a:off x="548640" y="5120640"/>
            <a:ext cx="10972800" cy="1097280"/>
          </a:xfrm>
          <a:prstGeom prst="rect">
            <a:avLst/>
          </a:prstGeom>
          <a:noFill/>
        </p:spPr>
        <p:txBody>
          <a:bodyPr wrap="square">
            <a:spAutoFit/>
          </a:bodyPr>
          <a:lstStyle/>
          <a:p>
            <a:r>
              <a:rPr sz="1200" b="0">
                <a:solidFill>
                  <a:srgbClr val="1B1B1B"/>
                </a:solidFill>
                <a:latin typeface="Helvetica Neue"/>
              </a:rPr>
              <a:t>"RunAnywhere builds 'custom kernels, operator fusion, unified memory optimization' inference engines (MetalRT) and a cross-platform SDK — squarely AI Infrastructure. The 'Open by default' stance, 10.4K GitHub stars, and 'Open Source' YC tag confirm meaningful open posture; multimodal coverage (LLM decode, speech-to-text, speech-to-speech, vision language models) drives the ai_capability set."</a:t>
            </a:r>
          </a:p>
        </p:txBody>
      </p:sp>
      <p:sp>
        <p:nvSpPr>
          <p:cNvPr id="10" name="TextBox 9"/>
          <p:cNvSpPr txBox="1"/>
          <p:nvPr/>
        </p:nvSpPr>
        <p:spPr>
          <a:xfrm>
            <a:off x="457200" y="6446520"/>
            <a:ext cx="11247120" cy="365760"/>
          </a:xfrm>
          <a:prstGeom prst="rect">
            <a:avLst/>
          </a:prstGeom>
          <a:noFill/>
        </p:spPr>
        <p:txBody>
          <a:bodyPr wrap="square">
            <a:spAutoFit/>
          </a:bodyPr>
          <a:lstStyle/>
          <a:p>
            <a:r>
              <a:rPr sz="1000" b="0">
                <a:solidFill>
                  <a:srgbClr val="6B6B6B"/>
                </a:solidFill>
                <a:latin typeface="Helvetica Neue"/>
              </a:rPr>
              <a:t>Source: https://www.runanywhere.ai/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548640" y="548640"/>
            <a:ext cx="731520" cy="73152"/>
          </a:xfrm>
          <a:prstGeom prst="rect">
            <a:avLst/>
          </a:prstGeom>
          <a:solidFill>
            <a:srgbClr val="D24E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10972800" cy="731520"/>
          </a:xfrm>
          <a:prstGeom prst="rect">
            <a:avLst/>
          </a:prstGeom>
          <a:noFill/>
        </p:spPr>
        <p:txBody>
          <a:bodyPr wrap="square">
            <a:spAutoFit/>
          </a:bodyPr>
          <a:lstStyle/>
          <a:p>
            <a:r>
              <a:rPr sz="1400" b="0">
                <a:solidFill>
                  <a:srgbClr val="6B6B6B"/>
                </a:solidFill>
                <a:latin typeface="Helvetica Neue"/>
              </a:rPr>
              <a:t>strand-ai</a:t>
            </a:r>
          </a:p>
        </p:txBody>
      </p:sp>
      <p:sp>
        <p:nvSpPr>
          <p:cNvPr id="4" name="TextBox 3"/>
          <p:cNvSpPr txBox="1"/>
          <p:nvPr/>
        </p:nvSpPr>
        <p:spPr>
          <a:xfrm>
            <a:off x="548640" y="1463040"/>
            <a:ext cx="10972800" cy="1463040"/>
          </a:xfrm>
          <a:prstGeom prst="rect">
            <a:avLst/>
          </a:prstGeom>
          <a:noFill/>
        </p:spPr>
        <p:txBody>
          <a:bodyPr wrap="square">
            <a:spAutoFit/>
          </a:bodyPr>
          <a:lstStyle/>
          <a:p>
            <a:r>
              <a:rPr sz="2800" b="1">
                <a:solidFill>
                  <a:srgbClr val="1B1B1B"/>
                </a:solidFill>
                <a:latin typeface="Helvetica Neue"/>
              </a:rPr>
              <a:t>Foundation models that predict missing biological modalities—proteomics, transcriptomics—from patient data you already have</a:t>
            </a:r>
          </a:p>
        </p:txBody>
      </p:sp>
      <p:sp>
        <p:nvSpPr>
          <p:cNvPr id="5" name="TextBox 4"/>
          <p:cNvSpPr txBox="1"/>
          <p:nvPr/>
        </p:nvSpPr>
        <p:spPr>
          <a:xfrm>
            <a:off x="548640" y="3108960"/>
            <a:ext cx="10972800" cy="457200"/>
          </a:xfrm>
          <a:prstGeom prst="rect">
            <a:avLst/>
          </a:prstGeom>
          <a:noFill/>
        </p:spPr>
        <p:txBody>
          <a:bodyPr wrap="square">
            <a:spAutoFit/>
          </a:bodyPr>
          <a:lstStyle/>
          <a:p>
            <a:r>
              <a:rPr sz="1600" b="0">
                <a:solidFill>
                  <a:srgbClr val="6B6B6B"/>
                </a:solidFill>
                <a:latin typeface="Helvetica Neue"/>
              </a:rPr>
              <a:t>Industry: Biotech</a:t>
            </a:r>
          </a:p>
        </p:txBody>
      </p:sp>
      <p:sp>
        <p:nvSpPr>
          <p:cNvPr id="6" name="TextBox 5"/>
          <p:cNvSpPr txBox="1"/>
          <p:nvPr/>
        </p:nvSpPr>
        <p:spPr>
          <a:xfrm>
            <a:off x="548640" y="3566160"/>
            <a:ext cx="10972800" cy="457200"/>
          </a:xfrm>
          <a:prstGeom prst="rect">
            <a:avLst/>
          </a:prstGeom>
          <a:noFill/>
        </p:spPr>
        <p:txBody>
          <a:bodyPr wrap="square">
            <a:spAutoFit/>
          </a:bodyPr>
          <a:lstStyle/>
          <a:p>
            <a:r>
              <a:rPr sz="1600" b="0">
                <a:solidFill>
                  <a:srgbClr val="6B6B6B"/>
                </a:solidFill>
                <a:latin typeface="Helvetica Neue"/>
              </a:rPr>
              <a:t>AI capability: bio-ai, multimodal, vision, data-pipeline, training-infra</a:t>
            </a:r>
          </a:p>
        </p:txBody>
      </p:sp>
      <p:sp>
        <p:nvSpPr>
          <p:cNvPr id="7" name="TextBox 6"/>
          <p:cNvSpPr txBox="1"/>
          <p:nvPr/>
        </p:nvSpPr>
        <p:spPr>
          <a:xfrm>
            <a:off x="548640" y="4023360"/>
            <a:ext cx="10972800" cy="457200"/>
          </a:xfrm>
          <a:prstGeom prst="rect">
            <a:avLst/>
          </a:prstGeom>
          <a:noFill/>
        </p:spPr>
        <p:txBody>
          <a:bodyPr wrap="square">
            <a:spAutoFit/>
          </a:bodyPr>
          <a:lstStyle/>
          <a:p>
            <a:r>
              <a:rPr sz="1600" b="0">
                <a:solidFill>
                  <a:srgbClr val="6B6B6B"/>
                </a:solidFill>
                <a:latin typeface="Helvetica Neue"/>
              </a:rPr>
              <a:t>Tech stack: custom-model</a:t>
            </a:r>
          </a:p>
        </p:txBody>
      </p:sp>
      <p:sp>
        <p:nvSpPr>
          <p:cNvPr id="8" name="TextBox 7"/>
          <p:cNvSpPr txBox="1"/>
          <p:nvPr/>
        </p:nvSpPr>
        <p:spPr>
          <a:xfrm>
            <a:off x="548640" y="4480560"/>
            <a:ext cx="10972800" cy="457200"/>
          </a:xfrm>
          <a:prstGeom prst="rect">
            <a:avLst/>
          </a:prstGeom>
          <a:noFill/>
        </p:spPr>
        <p:txBody>
          <a:bodyPr wrap="square">
            <a:spAutoFit/>
          </a:bodyPr>
          <a:lstStyle/>
          <a:p>
            <a:r>
              <a:rPr sz="1600" b="0">
                <a:solidFill>
                  <a:srgbClr val="6B6B6B"/>
                </a:solidFill>
                <a:latin typeface="Helvetica Neue"/>
              </a:rPr>
              <a:t>OSS posture: api-only</a:t>
            </a:r>
          </a:p>
        </p:txBody>
      </p:sp>
      <p:sp>
        <p:nvSpPr>
          <p:cNvPr id="9" name="TextBox 8"/>
          <p:cNvSpPr txBox="1"/>
          <p:nvPr/>
        </p:nvSpPr>
        <p:spPr>
          <a:xfrm>
            <a:off x="548640" y="5120640"/>
            <a:ext cx="10972800" cy="1097280"/>
          </a:xfrm>
          <a:prstGeom prst="rect">
            <a:avLst/>
          </a:prstGeom>
          <a:noFill/>
        </p:spPr>
        <p:txBody>
          <a:bodyPr wrap="square">
            <a:spAutoFit/>
          </a:bodyPr>
          <a:lstStyle/>
          <a:p>
            <a:r>
              <a:rPr sz="1200" b="0">
                <a:solidFill>
                  <a:srgbClr val="1B1B1B"/>
                </a:solidFill>
                <a:latin typeface="Helvetica Neue"/>
              </a:rPr>
              <a:t>"The site explicitly states 'Predict missing biological modalities from the data you already have' and describes custom foundation models (POSTMAN for spatial proteomics, VariantFormer for gene expression imputation); access is gated via 'Request Access' and 'Request Early Access' with no open-source repository mentioned, confirming api-only posture."</a:t>
            </a:r>
          </a:p>
        </p:txBody>
      </p:sp>
      <p:sp>
        <p:nvSpPr>
          <p:cNvPr id="10" name="TextBox 9"/>
          <p:cNvSpPr txBox="1"/>
          <p:nvPr/>
        </p:nvSpPr>
        <p:spPr>
          <a:xfrm>
            <a:off x="457200" y="6446520"/>
            <a:ext cx="11247120" cy="365760"/>
          </a:xfrm>
          <a:prstGeom prst="rect">
            <a:avLst/>
          </a:prstGeom>
          <a:noFill/>
        </p:spPr>
        <p:txBody>
          <a:bodyPr wrap="square">
            <a:spAutoFit/>
          </a:bodyPr>
          <a:lstStyle/>
          <a:p>
            <a:r>
              <a:rPr sz="1000" b="0">
                <a:solidFill>
                  <a:srgbClr val="6B6B6B"/>
                </a:solidFill>
                <a:latin typeface="Helvetica Neue"/>
              </a:rPr>
              <a:t>Source: https://strandai.com/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548640" y="548640"/>
            <a:ext cx="731520" cy="73152"/>
          </a:xfrm>
          <a:prstGeom prst="rect">
            <a:avLst/>
          </a:prstGeom>
          <a:solidFill>
            <a:srgbClr val="D24E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10972800" cy="731520"/>
          </a:xfrm>
          <a:prstGeom prst="rect">
            <a:avLst/>
          </a:prstGeom>
          <a:noFill/>
        </p:spPr>
        <p:txBody>
          <a:bodyPr wrap="square">
            <a:spAutoFit/>
          </a:bodyPr>
          <a:lstStyle/>
          <a:p>
            <a:r>
              <a:rPr sz="1400" b="0">
                <a:solidFill>
                  <a:srgbClr val="6B6B6B"/>
                </a:solidFill>
                <a:latin typeface="Helvetica Neue"/>
              </a:rPr>
              <a:t>human-archive</a:t>
            </a:r>
          </a:p>
        </p:txBody>
      </p:sp>
      <p:sp>
        <p:nvSpPr>
          <p:cNvPr id="4" name="TextBox 3"/>
          <p:cNvSpPr txBox="1"/>
          <p:nvPr/>
        </p:nvSpPr>
        <p:spPr>
          <a:xfrm>
            <a:off x="548640" y="1463040"/>
            <a:ext cx="10972800" cy="1463040"/>
          </a:xfrm>
          <a:prstGeom prst="rect">
            <a:avLst/>
          </a:prstGeom>
          <a:noFill/>
        </p:spPr>
        <p:txBody>
          <a:bodyPr wrap="square">
            <a:spAutoFit/>
          </a:bodyPr>
          <a:lstStyle/>
          <a:p>
            <a:r>
              <a:rPr sz="2800" b="1">
                <a:solidFill>
                  <a:srgbClr val="1B1B1B"/>
                </a:solidFill>
                <a:latin typeface="Helvetica Neue"/>
              </a:rPr>
              <a:t>Multimodal sensorimotor dataset provider fueling embodied AI and humanoid robotics foundation models</a:t>
            </a:r>
          </a:p>
        </p:txBody>
      </p:sp>
      <p:sp>
        <p:nvSpPr>
          <p:cNvPr id="5" name="TextBox 4"/>
          <p:cNvSpPr txBox="1"/>
          <p:nvPr/>
        </p:nvSpPr>
        <p:spPr>
          <a:xfrm>
            <a:off x="548640" y="3108960"/>
            <a:ext cx="10972800" cy="457200"/>
          </a:xfrm>
          <a:prstGeom prst="rect">
            <a:avLst/>
          </a:prstGeom>
          <a:noFill/>
        </p:spPr>
        <p:txBody>
          <a:bodyPr wrap="square">
            <a:spAutoFit/>
          </a:bodyPr>
          <a:lstStyle/>
          <a:p>
            <a:r>
              <a:rPr sz="1600" b="0">
                <a:solidFill>
                  <a:srgbClr val="6B6B6B"/>
                </a:solidFill>
                <a:latin typeface="Helvetica Neue"/>
              </a:rPr>
              <a:t>Industry: Robotics</a:t>
            </a:r>
          </a:p>
        </p:txBody>
      </p:sp>
      <p:sp>
        <p:nvSpPr>
          <p:cNvPr id="6" name="TextBox 5"/>
          <p:cNvSpPr txBox="1"/>
          <p:nvPr/>
        </p:nvSpPr>
        <p:spPr>
          <a:xfrm>
            <a:off x="548640" y="3566160"/>
            <a:ext cx="10972800" cy="457200"/>
          </a:xfrm>
          <a:prstGeom prst="rect">
            <a:avLst/>
          </a:prstGeom>
          <a:noFill/>
        </p:spPr>
        <p:txBody>
          <a:bodyPr wrap="square">
            <a:spAutoFit/>
          </a:bodyPr>
          <a:lstStyle/>
          <a:p>
            <a:r>
              <a:rPr sz="1600" b="0">
                <a:solidFill>
                  <a:srgbClr val="6B6B6B"/>
                </a:solidFill>
                <a:latin typeface="Helvetica Neue"/>
              </a:rPr>
              <a:t>AI capability: multimodal, vision, robotics, data-pipeline, training-infra</a:t>
            </a:r>
          </a:p>
        </p:txBody>
      </p:sp>
      <p:sp>
        <p:nvSpPr>
          <p:cNvPr id="7" name="TextBox 6"/>
          <p:cNvSpPr txBox="1"/>
          <p:nvPr/>
        </p:nvSpPr>
        <p:spPr>
          <a:xfrm>
            <a:off x="548640" y="4023360"/>
            <a:ext cx="10972800" cy="457200"/>
          </a:xfrm>
          <a:prstGeom prst="rect">
            <a:avLst/>
          </a:prstGeom>
          <a:noFill/>
        </p:spPr>
        <p:txBody>
          <a:bodyPr wrap="square">
            <a:spAutoFit/>
          </a:bodyPr>
          <a:lstStyle/>
          <a:p>
            <a:r>
              <a:rPr sz="1600" b="0">
                <a:solidFill>
                  <a:srgbClr val="6B6B6B"/>
                </a:solidFill>
                <a:latin typeface="Helvetica Neue"/>
              </a:rPr>
              <a:t>Tech stack: custom-model</a:t>
            </a:r>
          </a:p>
        </p:txBody>
      </p:sp>
      <p:sp>
        <p:nvSpPr>
          <p:cNvPr id="8" name="TextBox 7"/>
          <p:cNvSpPr txBox="1"/>
          <p:nvPr/>
        </p:nvSpPr>
        <p:spPr>
          <a:xfrm>
            <a:off x="548640" y="4480560"/>
            <a:ext cx="10972800" cy="457200"/>
          </a:xfrm>
          <a:prstGeom prst="rect">
            <a:avLst/>
          </a:prstGeom>
          <a:noFill/>
        </p:spPr>
        <p:txBody>
          <a:bodyPr wrap="square">
            <a:spAutoFit/>
          </a:bodyPr>
          <a:lstStyle/>
          <a:p>
            <a:r>
              <a:rPr sz="1600" b="0">
                <a:solidFill>
                  <a:srgbClr val="6B6B6B"/>
                </a:solidFill>
                <a:latin typeface="Helvetica Neue"/>
              </a:rPr>
              <a:t>OSS posture: unknown</a:t>
            </a:r>
          </a:p>
        </p:txBody>
      </p:sp>
      <p:sp>
        <p:nvSpPr>
          <p:cNvPr id="9" name="TextBox 8"/>
          <p:cNvSpPr txBox="1"/>
          <p:nvPr/>
        </p:nvSpPr>
        <p:spPr>
          <a:xfrm>
            <a:off x="548640" y="5120640"/>
            <a:ext cx="10972800" cy="1097280"/>
          </a:xfrm>
          <a:prstGeom prst="rect">
            <a:avLst/>
          </a:prstGeom>
          <a:noFill/>
        </p:spPr>
        <p:txBody>
          <a:bodyPr wrap="square">
            <a:spAutoFit/>
          </a:bodyPr>
          <a:lstStyle/>
          <a:p>
            <a:r>
              <a:rPr sz="1200" b="0">
                <a:solidFill>
                  <a:srgbClr val="1B1B1B"/>
                </a:solidFill>
                <a:latin typeface="Helvetica Neue"/>
              </a:rPr>
              <a:t>"The description explicitly states they collect and label 'aligned multimodal data' for 'robotics foundation models and general-purpose robotics companies,' and the website confirms they are 'Building the largest sensorimotor human dataset to ever exist' with modalities including tactile, motion, vision, depth, and wrist POV."</a:t>
            </a:r>
          </a:p>
        </p:txBody>
      </p:sp>
      <p:sp>
        <p:nvSpPr>
          <p:cNvPr id="10" name="TextBox 9"/>
          <p:cNvSpPr txBox="1"/>
          <p:nvPr/>
        </p:nvSpPr>
        <p:spPr>
          <a:xfrm>
            <a:off x="457200" y="6446520"/>
            <a:ext cx="11247120" cy="365760"/>
          </a:xfrm>
          <a:prstGeom prst="rect">
            <a:avLst/>
          </a:prstGeom>
          <a:noFill/>
        </p:spPr>
        <p:txBody>
          <a:bodyPr wrap="square">
            <a:spAutoFit/>
          </a:bodyPr>
          <a:lstStyle/>
          <a:p>
            <a:r>
              <a:rPr sz="1000" b="0">
                <a:solidFill>
                  <a:srgbClr val="6B6B6B"/>
                </a:solidFill>
                <a:latin typeface="Helvetica Neue"/>
              </a:rPr>
              <a:t>Source: https://www.ycombinator.com/companies/human-archive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548640" y="548640"/>
            <a:ext cx="731520" cy="73152"/>
          </a:xfrm>
          <a:prstGeom prst="rect">
            <a:avLst/>
          </a:prstGeom>
          <a:solidFill>
            <a:srgbClr val="D24E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10972800" cy="731520"/>
          </a:xfrm>
          <a:prstGeom prst="rect">
            <a:avLst/>
          </a:prstGeom>
          <a:noFill/>
        </p:spPr>
        <p:txBody>
          <a:bodyPr wrap="square">
            <a:spAutoFit/>
          </a:bodyPr>
          <a:lstStyle/>
          <a:p>
            <a:r>
              <a:rPr sz="1400" b="0">
                <a:solidFill>
                  <a:srgbClr val="6B6B6B"/>
                </a:solidFill>
                <a:latin typeface="Helvetica Neue"/>
              </a:rPr>
              <a:t>axionorbital-space</a:t>
            </a:r>
          </a:p>
        </p:txBody>
      </p:sp>
      <p:sp>
        <p:nvSpPr>
          <p:cNvPr id="4" name="TextBox 3"/>
          <p:cNvSpPr txBox="1"/>
          <p:nvPr/>
        </p:nvSpPr>
        <p:spPr>
          <a:xfrm>
            <a:off x="548640" y="1463040"/>
            <a:ext cx="10972800" cy="1463040"/>
          </a:xfrm>
          <a:prstGeom prst="rect">
            <a:avLst/>
          </a:prstGeom>
          <a:noFill/>
        </p:spPr>
        <p:txBody>
          <a:bodyPr wrap="square">
            <a:spAutoFit/>
          </a:bodyPr>
          <a:lstStyle/>
          <a:p>
            <a:r>
              <a:rPr sz="2800" b="1">
                <a:solidFill>
                  <a:srgbClr val="1B1B1B"/>
                </a:solidFill>
                <a:latin typeface="Helvetica Neue"/>
              </a:rPr>
              <a:t>SAR-to-optical foundation model enabling cloud-proof, 24/7 Earth observation for defense, commodities, and disaster response</a:t>
            </a:r>
          </a:p>
        </p:txBody>
      </p:sp>
      <p:sp>
        <p:nvSpPr>
          <p:cNvPr id="5" name="TextBox 4"/>
          <p:cNvSpPr txBox="1"/>
          <p:nvPr/>
        </p:nvSpPr>
        <p:spPr>
          <a:xfrm>
            <a:off x="548640" y="3108960"/>
            <a:ext cx="10972800" cy="457200"/>
          </a:xfrm>
          <a:prstGeom prst="rect">
            <a:avLst/>
          </a:prstGeom>
          <a:noFill/>
        </p:spPr>
        <p:txBody>
          <a:bodyPr wrap="square">
            <a:spAutoFit/>
          </a:bodyPr>
          <a:lstStyle/>
          <a:p>
            <a:r>
              <a:rPr sz="1600" b="0">
                <a:solidFill>
                  <a:srgbClr val="6B6B6B"/>
                </a:solidFill>
                <a:latin typeface="Helvetica Neue"/>
              </a:rPr>
              <a:t>Industry: Industrials</a:t>
            </a:r>
          </a:p>
        </p:txBody>
      </p:sp>
      <p:sp>
        <p:nvSpPr>
          <p:cNvPr id="6" name="TextBox 5"/>
          <p:cNvSpPr txBox="1"/>
          <p:nvPr/>
        </p:nvSpPr>
        <p:spPr>
          <a:xfrm>
            <a:off x="548640" y="3566160"/>
            <a:ext cx="10972800" cy="457200"/>
          </a:xfrm>
          <a:prstGeom prst="rect">
            <a:avLst/>
          </a:prstGeom>
          <a:noFill/>
        </p:spPr>
        <p:txBody>
          <a:bodyPr wrap="square">
            <a:spAutoFit/>
          </a:bodyPr>
          <a:lstStyle/>
          <a:p>
            <a:r>
              <a:rPr sz="1600" b="0">
                <a:solidFill>
                  <a:srgbClr val="6B6B6B"/>
                </a:solidFill>
                <a:latin typeface="Helvetica Neue"/>
              </a:rPr>
              <a:t>AI capability: vision, multimodal, training-infra, data-pipeline</a:t>
            </a:r>
          </a:p>
        </p:txBody>
      </p:sp>
      <p:sp>
        <p:nvSpPr>
          <p:cNvPr id="7" name="TextBox 6"/>
          <p:cNvSpPr txBox="1"/>
          <p:nvPr/>
        </p:nvSpPr>
        <p:spPr>
          <a:xfrm>
            <a:off x="548640" y="4023360"/>
            <a:ext cx="10972800" cy="457200"/>
          </a:xfrm>
          <a:prstGeom prst="rect">
            <a:avLst/>
          </a:prstGeom>
          <a:noFill/>
        </p:spPr>
        <p:txBody>
          <a:bodyPr wrap="square">
            <a:spAutoFit/>
          </a:bodyPr>
          <a:lstStyle/>
          <a:p>
            <a:r>
              <a:rPr sz="1600" b="0">
                <a:solidFill>
                  <a:srgbClr val="6B6B6B"/>
                </a:solidFill>
                <a:latin typeface="Helvetica Neue"/>
              </a:rPr>
              <a:t>Tech stack: custom-model</a:t>
            </a:r>
          </a:p>
        </p:txBody>
      </p:sp>
      <p:sp>
        <p:nvSpPr>
          <p:cNvPr id="8" name="TextBox 7"/>
          <p:cNvSpPr txBox="1"/>
          <p:nvPr/>
        </p:nvSpPr>
        <p:spPr>
          <a:xfrm>
            <a:off x="548640" y="4480560"/>
            <a:ext cx="10972800" cy="457200"/>
          </a:xfrm>
          <a:prstGeom prst="rect">
            <a:avLst/>
          </a:prstGeom>
          <a:noFill/>
        </p:spPr>
        <p:txBody>
          <a:bodyPr wrap="square">
            <a:spAutoFit/>
          </a:bodyPr>
          <a:lstStyle/>
          <a:p>
            <a:r>
              <a:rPr sz="1600" b="0">
                <a:solidFill>
                  <a:srgbClr val="6B6B6B"/>
                </a:solidFill>
                <a:latin typeface="Helvetica Neue"/>
              </a:rPr>
              <a:t>OSS posture: closed</a:t>
            </a:r>
          </a:p>
        </p:txBody>
      </p:sp>
      <p:sp>
        <p:nvSpPr>
          <p:cNvPr id="9" name="TextBox 8"/>
          <p:cNvSpPr txBox="1"/>
          <p:nvPr/>
        </p:nvSpPr>
        <p:spPr>
          <a:xfrm>
            <a:off x="548640" y="5120640"/>
            <a:ext cx="10972800" cy="1097280"/>
          </a:xfrm>
          <a:prstGeom prst="rect">
            <a:avLst/>
          </a:prstGeom>
          <a:noFill/>
        </p:spPr>
        <p:txBody>
          <a:bodyPr wrap="square">
            <a:spAutoFit/>
          </a:bodyPr>
          <a:lstStyle/>
          <a:p>
            <a:r>
              <a:rPr sz="1200" b="0">
                <a:solidFill>
                  <a:srgbClr val="1B1B1B"/>
                </a:solidFill>
                <a:latin typeface="Helvetica Neue"/>
              </a:rPr>
              <a:t>"The description explicitly states a 'proprietary architecture uses deterministic one-step diffusion to transform complex radar signals into clear, photorealistic images,' confirming a custom vision/multimodal AI model for satellite data processing. Primary industry is Industrials (space/satellite), with Government / Defense and AI Infrastructure as secondary given the stated end markets ('defense…"</a:t>
            </a:r>
          </a:p>
        </p:txBody>
      </p:sp>
      <p:sp>
        <p:nvSpPr>
          <p:cNvPr id="10" name="TextBox 9"/>
          <p:cNvSpPr txBox="1"/>
          <p:nvPr/>
        </p:nvSpPr>
        <p:spPr>
          <a:xfrm>
            <a:off x="457200" y="6446520"/>
            <a:ext cx="11247120" cy="365760"/>
          </a:xfrm>
          <a:prstGeom prst="rect">
            <a:avLst/>
          </a:prstGeom>
          <a:noFill/>
        </p:spPr>
        <p:txBody>
          <a:bodyPr wrap="square">
            <a:spAutoFit/>
          </a:bodyPr>
          <a:lstStyle/>
          <a:p>
            <a:r>
              <a:rPr sz="1000" b="0">
                <a:solidFill>
                  <a:srgbClr val="6B6B6B"/>
                </a:solidFill>
                <a:latin typeface="Helvetica Neue"/>
              </a:rPr>
              <a:t>Source: https://www.ycombinator.com/companies/axionorbital-space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548640" y="548640"/>
            <a:ext cx="731520" cy="73152"/>
          </a:xfrm>
          <a:prstGeom prst="rect">
            <a:avLst/>
          </a:prstGeom>
          <a:solidFill>
            <a:srgbClr val="D24E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10972800" cy="731520"/>
          </a:xfrm>
          <a:prstGeom prst="rect">
            <a:avLst/>
          </a:prstGeom>
          <a:noFill/>
        </p:spPr>
        <p:txBody>
          <a:bodyPr wrap="square">
            <a:spAutoFit/>
          </a:bodyPr>
          <a:lstStyle/>
          <a:p>
            <a:r>
              <a:rPr sz="1400" b="0">
                <a:solidFill>
                  <a:srgbClr val="6B6B6B"/>
                </a:solidFill>
                <a:latin typeface="Helvetica Neue"/>
              </a:rPr>
              <a:t>pocket</a:t>
            </a:r>
          </a:p>
        </p:txBody>
      </p:sp>
      <p:sp>
        <p:nvSpPr>
          <p:cNvPr id="4" name="TextBox 3"/>
          <p:cNvSpPr txBox="1"/>
          <p:nvPr/>
        </p:nvSpPr>
        <p:spPr>
          <a:xfrm>
            <a:off x="548640" y="1463040"/>
            <a:ext cx="10972800" cy="1463040"/>
          </a:xfrm>
          <a:prstGeom prst="rect">
            <a:avLst/>
          </a:prstGeom>
          <a:noFill/>
        </p:spPr>
        <p:txBody>
          <a:bodyPr wrap="square">
            <a:spAutoFit/>
          </a:bodyPr>
          <a:lstStyle/>
          <a:p>
            <a:r>
              <a:rPr sz="2800" b="1">
                <a:solidFill>
                  <a:srgbClr val="1B1B1B"/>
                </a:solidFill>
                <a:latin typeface="Helvetica Neue"/>
              </a:rPr>
              <a:t>Wearable AI device + app that transcribes conversations in real time and extracts notes, action items, and searchable memory</a:t>
            </a:r>
          </a:p>
        </p:txBody>
      </p:sp>
      <p:sp>
        <p:nvSpPr>
          <p:cNvPr id="5" name="TextBox 4"/>
          <p:cNvSpPr txBox="1"/>
          <p:nvPr/>
        </p:nvSpPr>
        <p:spPr>
          <a:xfrm>
            <a:off x="548640" y="3108960"/>
            <a:ext cx="10972800" cy="457200"/>
          </a:xfrm>
          <a:prstGeom prst="rect">
            <a:avLst/>
          </a:prstGeom>
          <a:noFill/>
        </p:spPr>
        <p:txBody>
          <a:bodyPr wrap="square">
            <a:spAutoFit/>
          </a:bodyPr>
          <a:lstStyle/>
          <a:p>
            <a:r>
              <a:rPr sz="1600" b="0">
                <a:solidFill>
                  <a:srgbClr val="6B6B6B"/>
                </a:solidFill>
                <a:latin typeface="Helvetica Neue"/>
              </a:rPr>
              <a:t>Industry: Consumer</a:t>
            </a:r>
          </a:p>
        </p:txBody>
      </p:sp>
      <p:sp>
        <p:nvSpPr>
          <p:cNvPr id="6" name="TextBox 5"/>
          <p:cNvSpPr txBox="1"/>
          <p:nvPr/>
        </p:nvSpPr>
        <p:spPr>
          <a:xfrm>
            <a:off x="548640" y="3566160"/>
            <a:ext cx="10972800" cy="457200"/>
          </a:xfrm>
          <a:prstGeom prst="rect">
            <a:avLst/>
          </a:prstGeom>
          <a:noFill/>
        </p:spPr>
        <p:txBody>
          <a:bodyPr wrap="square">
            <a:spAutoFit/>
          </a:bodyPr>
          <a:lstStyle/>
          <a:p>
            <a:r>
              <a:rPr sz="1600" b="0">
                <a:solidFill>
                  <a:srgbClr val="6B6B6B"/>
                </a:solidFill>
                <a:latin typeface="Helvetica Neue"/>
              </a:rPr>
              <a:t>AI capability: speech, voice, nlp-classic, rag</a:t>
            </a:r>
          </a:p>
        </p:txBody>
      </p:sp>
      <p:sp>
        <p:nvSpPr>
          <p:cNvPr id="7" name="TextBox 6"/>
          <p:cNvSpPr txBox="1"/>
          <p:nvPr/>
        </p:nvSpPr>
        <p:spPr>
          <a:xfrm>
            <a:off x="548640" y="4023360"/>
            <a:ext cx="10972800" cy="457200"/>
          </a:xfrm>
          <a:prstGeom prst="rect">
            <a:avLst/>
          </a:prstGeom>
          <a:noFill/>
        </p:spPr>
        <p:txBody>
          <a:bodyPr wrap="square">
            <a:spAutoFit/>
          </a:bodyPr>
          <a:lstStyle/>
          <a:p>
            <a:r>
              <a:rPr sz="1600" b="0">
                <a:solidFill>
                  <a:srgbClr val="6B6B6B"/>
                </a:solidFill>
                <a:latin typeface="Helvetica Neue"/>
              </a:rPr>
              <a:t>Tech stack: unknown</a:t>
            </a:r>
          </a:p>
        </p:txBody>
      </p:sp>
      <p:sp>
        <p:nvSpPr>
          <p:cNvPr id="8" name="TextBox 7"/>
          <p:cNvSpPr txBox="1"/>
          <p:nvPr/>
        </p:nvSpPr>
        <p:spPr>
          <a:xfrm>
            <a:off x="548640" y="4480560"/>
            <a:ext cx="10972800" cy="457200"/>
          </a:xfrm>
          <a:prstGeom prst="rect">
            <a:avLst/>
          </a:prstGeom>
          <a:noFill/>
        </p:spPr>
        <p:txBody>
          <a:bodyPr wrap="square">
            <a:spAutoFit/>
          </a:bodyPr>
          <a:lstStyle/>
          <a:p>
            <a:r>
              <a:rPr sz="1600" b="0">
                <a:solidFill>
                  <a:srgbClr val="6B6B6B"/>
                </a:solidFill>
                <a:latin typeface="Helvetica Neue"/>
              </a:rPr>
              <a:t>OSS posture: closed</a:t>
            </a:r>
          </a:p>
        </p:txBody>
      </p:sp>
      <p:sp>
        <p:nvSpPr>
          <p:cNvPr id="9" name="TextBox 8"/>
          <p:cNvSpPr txBox="1"/>
          <p:nvPr/>
        </p:nvSpPr>
        <p:spPr>
          <a:xfrm>
            <a:off x="548640" y="5120640"/>
            <a:ext cx="10972800" cy="1097280"/>
          </a:xfrm>
          <a:prstGeom prst="rect">
            <a:avLst/>
          </a:prstGeom>
          <a:noFill/>
        </p:spPr>
        <p:txBody>
          <a:bodyPr wrap="square">
            <a:spAutoFit/>
          </a:bodyPr>
          <a:lstStyle/>
          <a:p>
            <a:r>
              <a:rPr sz="1200" b="0">
                <a:solidFill>
                  <a:srgbClr val="1B1B1B"/>
                </a:solidFill>
                <a:latin typeface="Helvetica Neue"/>
              </a:rPr>
              <a:t>"The description states Pocket is 'a tiny AI device that lives on your phone and turns everything you say and hear into clear notes, action items, and search' built on 'custom hardware, AI, and software' — confirming a Consumer + Hardware classification with speech transcription, voice capture, NLP summarization, and semantic search as the core AI capabilities. No AI provider, open-source reposito…"</a:t>
            </a:r>
          </a:p>
        </p:txBody>
      </p:sp>
      <p:sp>
        <p:nvSpPr>
          <p:cNvPr id="10" name="TextBox 9"/>
          <p:cNvSpPr txBox="1"/>
          <p:nvPr/>
        </p:nvSpPr>
        <p:spPr>
          <a:xfrm>
            <a:off x="457200" y="6446520"/>
            <a:ext cx="11247120" cy="365760"/>
          </a:xfrm>
          <a:prstGeom prst="rect">
            <a:avLst/>
          </a:prstGeom>
          <a:noFill/>
        </p:spPr>
        <p:txBody>
          <a:bodyPr wrap="square">
            <a:spAutoFit/>
          </a:bodyPr>
          <a:lstStyle/>
          <a:p>
            <a:r>
              <a:rPr sz="1000" b="0">
                <a:solidFill>
                  <a:srgbClr val="6B6B6B"/>
                </a:solidFill>
                <a:latin typeface="Helvetica Neue"/>
              </a:rPr>
              <a:t>Source: https://www.ycombinator.com/companies/pocket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548640" y="548640"/>
            <a:ext cx="731520" cy="73152"/>
          </a:xfrm>
          <a:prstGeom prst="rect">
            <a:avLst/>
          </a:prstGeom>
          <a:solidFill>
            <a:srgbClr val="D24E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10972800" cy="731520"/>
          </a:xfrm>
          <a:prstGeom prst="rect">
            <a:avLst/>
          </a:prstGeom>
          <a:noFill/>
        </p:spPr>
        <p:txBody>
          <a:bodyPr wrap="square">
            <a:spAutoFit/>
          </a:bodyPr>
          <a:lstStyle/>
          <a:p>
            <a:r>
              <a:rPr sz="1400" b="0">
                <a:solidFill>
                  <a:srgbClr val="6B6B6B"/>
                </a:solidFill>
                <a:latin typeface="Helvetica Neue"/>
              </a:rPr>
              <a:t>corelayer</a:t>
            </a:r>
          </a:p>
        </p:txBody>
      </p:sp>
      <p:sp>
        <p:nvSpPr>
          <p:cNvPr id="4" name="TextBox 3"/>
          <p:cNvSpPr txBox="1"/>
          <p:nvPr/>
        </p:nvSpPr>
        <p:spPr>
          <a:xfrm>
            <a:off x="548640" y="1463040"/>
            <a:ext cx="10972800" cy="1463040"/>
          </a:xfrm>
          <a:prstGeom prst="rect">
            <a:avLst/>
          </a:prstGeom>
          <a:noFill/>
        </p:spPr>
        <p:txBody>
          <a:bodyPr wrap="square">
            <a:spAutoFit/>
          </a:bodyPr>
          <a:lstStyle/>
          <a:p>
            <a:r>
              <a:rPr sz="2800" b="1">
                <a:solidFill>
                  <a:srgbClr val="1B1B1B"/>
                </a:solidFill>
                <a:latin typeface="Helvetica Neue"/>
              </a:rPr>
              <a:t>AI on-call agent that monitors production data and infrastructure to auto-debug issues in minutes for regulated industries</a:t>
            </a:r>
          </a:p>
        </p:txBody>
      </p:sp>
      <p:sp>
        <p:nvSpPr>
          <p:cNvPr id="5" name="TextBox 4"/>
          <p:cNvSpPr txBox="1"/>
          <p:nvPr/>
        </p:nvSpPr>
        <p:spPr>
          <a:xfrm>
            <a:off x="548640" y="3108960"/>
            <a:ext cx="10972800" cy="457200"/>
          </a:xfrm>
          <a:prstGeom prst="rect">
            <a:avLst/>
          </a:prstGeom>
          <a:noFill/>
        </p:spPr>
        <p:txBody>
          <a:bodyPr wrap="square">
            <a:spAutoFit/>
          </a:bodyPr>
          <a:lstStyle/>
          <a:p>
            <a:r>
              <a:rPr sz="1600" b="0">
                <a:solidFill>
                  <a:srgbClr val="6B6B6B"/>
                </a:solidFill>
                <a:latin typeface="Helvetica Neue"/>
              </a:rPr>
              <a:t>Industry: Developer Tools</a:t>
            </a:r>
          </a:p>
        </p:txBody>
      </p:sp>
      <p:sp>
        <p:nvSpPr>
          <p:cNvPr id="6" name="TextBox 5"/>
          <p:cNvSpPr txBox="1"/>
          <p:nvPr/>
        </p:nvSpPr>
        <p:spPr>
          <a:xfrm>
            <a:off x="548640" y="3566160"/>
            <a:ext cx="10972800" cy="457200"/>
          </a:xfrm>
          <a:prstGeom prst="rect">
            <a:avLst/>
          </a:prstGeom>
          <a:noFill/>
        </p:spPr>
        <p:txBody>
          <a:bodyPr wrap="square">
            <a:spAutoFit/>
          </a:bodyPr>
          <a:lstStyle/>
          <a:p>
            <a:r>
              <a:rPr sz="1600" b="0">
                <a:solidFill>
                  <a:srgbClr val="6B6B6B"/>
                </a:solidFill>
                <a:latin typeface="Helvetica Neue"/>
              </a:rPr>
              <a:t>AI capability: agents, rag, evals-observability, data-pipeline</a:t>
            </a:r>
          </a:p>
        </p:txBody>
      </p:sp>
      <p:sp>
        <p:nvSpPr>
          <p:cNvPr id="7" name="TextBox 6"/>
          <p:cNvSpPr txBox="1"/>
          <p:nvPr/>
        </p:nvSpPr>
        <p:spPr>
          <a:xfrm>
            <a:off x="548640" y="4023360"/>
            <a:ext cx="10972800" cy="457200"/>
          </a:xfrm>
          <a:prstGeom prst="rect">
            <a:avLst/>
          </a:prstGeom>
          <a:noFill/>
        </p:spPr>
        <p:txBody>
          <a:bodyPr wrap="square">
            <a:spAutoFit/>
          </a:bodyPr>
          <a:lstStyle/>
          <a:p>
            <a:r>
              <a:rPr sz="1600" b="0">
                <a:solidFill>
                  <a:srgbClr val="6B6B6B"/>
                </a:solidFill>
                <a:latin typeface="Helvetica Neue"/>
              </a:rPr>
              <a:t>Tech stack: unknown</a:t>
            </a:r>
          </a:p>
        </p:txBody>
      </p:sp>
      <p:sp>
        <p:nvSpPr>
          <p:cNvPr id="8" name="TextBox 7"/>
          <p:cNvSpPr txBox="1"/>
          <p:nvPr/>
        </p:nvSpPr>
        <p:spPr>
          <a:xfrm>
            <a:off x="548640" y="4480560"/>
            <a:ext cx="10972800" cy="457200"/>
          </a:xfrm>
          <a:prstGeom prst="rect">
            <a:avLst/>
          </a:prstGeom>
          <a:noFill/>
        </p:spPr>
        <p:txBody>
          <a:bodyPr wrap="square">
            <a:spAutoFit/>
          </a:bodyPr>
          <a:lstStyle/>
          <a:p>
            <a:r>
              <a:rPr sz="1600" b="0">
                <a:solidFill>
                  <a:srgbClr val="6B6B6B"/>
                </a:solidFill>
                <a:latin typeface="Helvetica Neue"/>
              </a:rPr>
              <a:t>OSS posture: closed</a:t>
            </a:r>
          </a:p>
        </p:txBody>
      </p:sp>
      <p:sp>
        <p:nvSpPr>
          <p:cNvPr id="9" name="TextBox 8"/>
          <p:cNvSpPr txBox="1"/>
          <p:nvPr/>
        </p:nvSpPr>
        <p:spPr>
          <a:xfrm>
            <a:off x="548640" y="5120640"/>
            <a:ext cx="10972800" cy="1097280"/>
          </a:xfrm>
          <a:prstGeom prst="rect">
            <a:avLst/>
          </a:prstGeom>
          <a:noFill/>
        </p:spPr>
        <p:txBody>
          <a:bodyPr wrap="square">
            <a:spAutoFit/>
          </a:bodyPr>
          <a:lstStyle/>
          <a:p>
            <a:r>
              <a:rPr sz="1200" b="0">
                <a:solidFill>
                  <a:srgbClr val="1B1B1B"/>
                </a:solidFill>
                <a:latin typeface="Helvetica Neue"/>
              </a:rPr>
              <a:t>"The description explicitly states 'AI agents that do on-call support' and 'use AI agents to debug and suggest fixes in minutes,' confirming an agents + RAG posture (production data as context). The product targets engineering teams in regulated industries, placing it squarely in Developer Tools; 'flexible model provider and inference options' on the demo page indicates no committed upstream LLM v…"</a:t>
            </a:r>
          </a:p>
        </p:txBody>
      </p:sp>
      <p:sp>
        <p:nvSpPr>
          <p:cNvPr id="10" name="TextBox 9"/>
          <p:cNvSpPr txBox="1"/>
          <p:nvPr/>
        </p:nvSpPr>
        <p:spPr>
          <a:xfrm>
            <a:off x="457200" y="6446520"/>
            <a:ext cx="11247120" cy="365760"/>
          </a:xfrm>
          <a:prstGeom prst="rect">
            <a:avLst/>
          </a:prstGeom>
          <a:noFill/>
        </p:spPr>
        <p:txBody>
          <a:bodyPr wrap="square">
            <a:spAutoFit/>
          </a:bodyPr>
          <a:lstStyle/>
          <a:p>
            <a:r>
              <a:rPr sz="1000" b="0">
                <a:solidFill>
                  <a:srgbClr val="6B6B6B"/>
                </a:solidFill>
                <a:latin typeface="Helvetica Neue"/>
              </a:rPr>
              <a:t>Source: https://www.ycombinator.com/companies/corelayer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548640" y="548640"/>
            <a:ext cx="731520" cy="73152"/>
          </a:xfrm>
          <a:prstGeom prst="rect">
            <a:avLst/>
          </a:prstGeom>
          <a:solidFill>
            <a:srgbClr val="D24E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10972800" cy="914400"/>
          </a:xfrm>
          <a:prstGeom prst="rect">
            <a:avLst/>
          </a:prstGeom>
          <a:noFill/>
        </p:spPr>
        <p:txBody>
          <a:bodyPr wrap="square">
            <a:spAutoFit/>
          </a:bodyPr>
          <a:lstStyle/>
          <a:p>
            <a:r>
              <a:rPr sz="3600" b="1">
                <a:solidFill>
                  <a:srgbClr val="1B1B1B"/>
                </a:solidFill>
                <a:latin typeface="Helvetica Neue"/>
              </a:rPr>
              <a:t>Methodology</a:t>
            </a:r>
          </a:p>
        </p:txBody>
      </p:sp>
      <p:sp>
        <p:nvSpPr>
          <p:cNvPr id="4" name="TextBox 3"/>
          <p:cNvSpPr txBox="1"/>
          <p:nvPr/>
        </p:nvSpPr>
        <p:spPr>
          <a:xfrm>
            <a:off x="548640" y="1828800"/>
            <a:ext cx="10972800" cy="548640"/>
          </a:xfrm>
          <a:prstGeom prst="rect">
            <a:avLst/>
          </a:prstGeom>
          <a:noFill/>
        </p:spPr>
        <p:txBody>
          <a:bodyPr wrap="square">
            <a:spAutoFit/>
          </a:bodyPr>
          <a:lstStyle/>
          <a:p>
            <a:r>
              <a:rPr sz="1400" b="0">
                <a:solidFill>
                  <a:srgbClr val="1B1B1B"/>
                </a:solidFill>
                <a:latin typeface="Helvetica Neue"/>
              </a:rPr>
              <a:t>• Source: yc-oss/api (last refresh 2026-02-08 01:49:11.368000+00:00).</a:t>
            </a:r>
          </a:p>
        </p:txBody>
      </p:sp>
      <p:sp>
        <p:nvSpPr>
          <p:cNvPr id="5" name="TextBox 4"/>
          <p:cNvSpPr txBox="1"/>
          <p:nvPr/>
        </p:nvSpPr>
        <p:spPr>
          <a:xfrm>
            <a:off x="548640" y="2331720"/>
            <a:ext cx="10972800" cy="548640"/>
          </a:xfrm>
          <a:prstGeom prst="rect">
            <a:avLst/>
          </a:prstGeom>
          <a:noFill/>
        </p:spPr>
        <p:txBody>
          <a:bodyPr wrap="square">
            <a:spAutoFit/>
          </a:bodyPr>
          <a:lstStyle/>
          <a:p>
            <a:r>
              <a:rPr sz="1400" b="0">
                <a:solidFill>
                  <a:srgbClr val="1B1B1B"/>
                </a:solidFill>
                <a:latin typeface="Helvetica Neue"/>
              </a:rPr>
              <a:t>• Coverage: 132 of 196 from yc-oss/api.</a:t>
            </a:r>
          </a:p>
        </p:txBody>
      </p:sp>
      <p:sp>
        <p:nvSpPr>
          <p:cNvPr id="6" name="TextBox 5"/>
          <p:cNvSpPr txBox="1"/>
          <p:nvPr/>
        </p:nvSpPr>
        <p:spPr>
          <a:xfrm>
            <a:off x="548640" y="2834640"/>
            <a:ext cx="10972800" cy="548640"/>
          </a:xfrm>
          <a:prstGeom prst="rect">
            <a:avLst/>
          </a:prstGeom>
          <a:noFill/>
        </p:spPr>
        <p:txBody>
          <a:bodyPr wrap="square">
            <a:spAutoFit/>
          </a:bodyPr>
          <a:lstStyle/>
          <a:p>
            <a:r>
              <a:rPr sz="1400" b="0">
                <a:solidFill>
                  <a:srgbClr val="1B1B1B"/>
                </a:solidFill>
                <a:latin typeface="Helvetica Neue"/>
              </a:rPr>
              <a:t>• Tier A: 120 · Tier B: 4 · Tier C (excluded): 8</a:t>
            </a:r>
          </a:p>
        </p:txBody>
      </p:sp>
      <p:sp>
        <p:nvSpPr>
          <p:cNvPr id="7" name="TextBox 6"/>
          <p:cNvSpPr txBox="1"/>
          <p:nvPr/>
        </p:nvSpPr>
        <p:spPr>
          <a:xfrm>
            <a:off x="548640" y="3337560"/>
            <a:ext cx="10972800" cy="548640"/>
          </a:xfrm>
          <a:prstGeom prst="rect">
            <a:avLst/>
          </a:prstGeom>
          <a:noFill/>
        </p:spPr>
        <p:txBody>
          <a:bodyPr wrap="square">
            <a:spAutoFit/>
          </a:bodyPr>
          <a:lstStyle/>
          <a:p>
            <a:r>
              <a:rPr sz="1400" b="0">
                <a:solidFill>
                  <a:srgbClr val="1B1B1B"/>
                </a:solidFill>
                <a:latin typeface="Helvetica Neue"/>
              </a:rPr>
              <a:t>• LLM cohort: 105 high + 0 medium (19 low excluded). Sonnet 4.6 via Agent SDK.</a:t>
            </a:r>
          </a:p>
        </p:txBody>
      </p:sp>
      <p:sp>
        <p:nvSpPr>
          <p:cNvPr id="8" name="TextBox 7"/>
          <p:cNvSpPr txBox="1"/>
          <p:nvPr/>
        </p:nvSpPr>
        <p:spPr>
          <a:xfrm>
            <a:off x="548640" y="3840480"/>
            <a:ext cx="10972800" cy="548640"/>
          </a:xfrm>
          <a:prstGeom prst="rect">
            <a:avLst/>
          </a:prstGeom>
          <a:noFill/>
        </p:spPr>
        <p:txBody>
          <a:bodyPr wrap="square">
            <a:spAutoFit/>
          </a:bodyPr>
          <a:lstStyle/>
          <a:p>
            <a:r>
              <a:rPr sz="1400" b="0">
                <a:solidFill>
                  <a:srgbClr val="1B1B1B"/>
                </a:solidFill>
                <a:latin typeface="Helvetica Neue"/>
              </a:rPr>
              <a:t>• Anti-hallucination Layer 1: pydantic schema, source-URL grounding, two-pass cross-check, sentinel on failure.</a:t>
            </a:r>
          </a:p>
        </p:txBody>
      </p:sp>
      <p:sp>
        <p:nvSpPr>
          <p:cNvPr id="9" name="TextBox 8"/>
          <p:cNvSpPr txBox="1"/>
          <p:nvPr/>
        </p:nvSpPr>
        <p:spPr>
          <a:xfrm>
            <a:off x="548640" y="4343400"/>
            <a:ext cx="10972800" cy="548640"/>
          </a:xfrm>
          <a:prstGeom prst="rect">
            <a:avLst/>
          </a:prstGeom>
          <a:noFill/>
        </p:spPr>
        <p:txBody>
          <a:bodyPr wrap="square">
            <a:spAutoFit/>
          </a:bodyPr>
          <a:lstStyle/>
          <a:p>
            <a:r>
              <a:rPr sz="1400" b="0">
                <a:solidFill>
                  <a:srgbClr val="1B1B1B"/>
                </a:solidFill>
                <a:latin typeface="Helvetica Neue"/>
              </a:rPr>
              <a:t>• Anti-hallucination Layer 2 (this deck): forbidden-phrase scan + numerical-drift check before write.</a:t>
            </a:r>
          </a:p>
        </p:txBody>
      </p:sp>
      <p:sp>
        <p:nvSpPr>
          <p:cNvPr id="10" name="TextBox 9"/>
          <p:cNvSpPr txBox="1"/>
          <p:nvPr/>
        </p:nvSpPr>
        <p:spPr>
          <a:xfrm>
            <a:off x="548640" y="4846320"/>
            <a:ext cx="10972800" cy="548640"/>
          </a:xfrm>
          <a:prstGeom prst="rect">
            <a:avLst/>
          </a:prstGeom>
          <a:noFill/>
        </p:spPr>
        <p:txBody>
          <a:bodyPr wrap="square">
            <a:spAutoFit/>
          </a:bodyPr>
          <a:lstStyle/>
          <a:p>
            <a:r>
              <a:rPr sz="1400" b="0">
                <a:solidFill>
                  <a:srgbClr val="1B1B1B"/>
                </a:solidFill>
                <a:latin typeface="Helvetica Neue"/>
              </a:rPr>
              <a:t>• Depth=1 website crawl: polite (robots-aware, max 5 pages, 30 KB cap, PII stripped before the LLM).</a:t>
            </a:r>
          </a:p>
        </p:txBody>
      </p:sp>
      <p:sp>
        <p:nvSpPr>
          <p:cNvPr id="11" name="TextBox 10"/>
          <p:cNvSpPr txBox="1"/>
          <p:nvPr/>
        </p:nvSpPr>
        <p:spPr>
          <a:xfrm>
            <a:off x="457200" y="6446520"/>
            <a:ext cx="11247120" cy="365760"/>
          </a:xfrm>
          <a:prstGeom prst="rect">
            <a:avLst/>
          </a:prstGeom>
          <a:noFill/>
        </p:spPr>
        <p:txBody>
          <a:bodyPr wrap="square">
            <a:spAutoFit/>
          </a:bodyPr>
          <a:lstStyle/>
          <a:p>
            <a:r>
              <a:rPr sz="1000" b="0">
                <a:solidFill>
                  <a:srgbClr val="6B6B6B"/>
                </a:solidFill>
                <a:latin typeface="Helvetica Neue"/>
              </a:rPr>
              <a:t>Source: github.com/RyanAlberts/yc-ai-pulse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548640" y="548640"/>
            <a:ext cx="731520" cy="73152"/>
          </a:xfrm>
          <a:prstGeom prst="rect">
            <a:avLst/>
          </a:prstGeom>
          <a:solidFill>
            <a:srgbClr val="D24E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10972800" cy="914400"/>
          </a:xfrm>
          <a:prstGeom prst="rect">
            <a:avLst/>
          </a:prstGeom>
          <a:noFill/>
        </p:spPr>
        <p:txBody>
          <a:bodyPr wrap="square">
            <a:spAutoFit/>
          </a:bodyPr>
          <a:lstStyle/>
          <a:p>
            <a:r>
              <a:rPr sz="3600" b="1">
                <a:solidFill>
                  <a:srgbClr val="1B1B1B"/>
                </a:solidFill>
                <a:latin typeface="Helvetica Neue"/>
              </a:rPr>
              <a:t>Reproduce this deck</a:t>
            </a:r>
          </a:p>
        </p:txBody>
      </p:sp>
      <p:sp>
        <p:nvSpPr>
          <p:cNvPr id="4" name="TextBox 3"/>
          <p:cNvSpPr txBox="1"/>
          <p:nvPr/>
        </p:nvSpPr>
        <p:spPr>
          <a:xfrm>
            <a:off x="548640" y="2194560"/>
            <a:ext cx="10972800" cy="640080"/>
          </a:xfrm>
          <a:prstGeom prst="rect">
            <a:avLst/>
          </a:prstGeom>
          <a:noFill/>
        </p:spPr>
        <p:txBody>
          <a:bodyPr wrap="square">
            <a:spAutoFit/>
          </a:bodyPr>
          <a:lstStyle/>
          <a:p>
            <a:r>
              <a:rPr sz="2200" b="0">
                <a:solidFill>
                  <a:srgbClr val="D24E01"/>
                </a:solidFill>
                <a:latin typeface="Menlo"/>
              </a:rPr>
              <a:t>pipx install yc-ai-pulse</a:t>
            </a:r>
          </a:p>
        </p:txBody>
      </p:sp>
      <p:sp>
        <p:nvSpPr>
          <p:cNvPr id="5" name="TextBox 4"/>
          <p:cNvSpPr txBox="1"/>
          <p:nvPr/>
        </p:nvSpPr>
        <p:spPr>
          <a:xfrm>
            <a:off x="548640" y="2926080"/>
            <a:ext cx="10972800" cy="640080"/>
          </a:xfrm>
          <a:prstGeom prst="rect">
            <a:avLst/>
          </a:prstGeom>
          <a:noFill/>
        </p:spPr>
        <p:txBody>
          <a:bodyPr wrap="square">
            <a:spAutoFit/>
          </a:bodyPr>
          <a:lstStyle/>
          <a:p>
            <a:r>
              <a:rPr sz="2200" b="0">
                <a:solidFill>
                  <a:srgbClr val="D24E01"/>
                </a:solidFill>
                <a:latin typeface="Menlo"/>
              </a:rPr>
              <a:t>ycai run-coverage --batch winter-2026 --enrich</a:t>
            </a:r>
          </a:p>
        </p:txBody>
      </p:sp>
      <p:sp>
        <p:nvSpPr>
          <p:cNvPr id="6" name="TextBox 5"/>
          <p:cNvSpPr txBox="1"/>
          <p:nvPr/>
        </p:nvSpPr>
        <p:spPr>
          <a:xfrm>
            <a:off x="548640" y="3657600"/>
            <a:ext cx="10972800" cy="640080"/>
          </a:xfrm>
          <a:prstGeom prst="rect">
            <a:avLst/>
          </a:prstGeom>
          <a:noFill/>
        </p:spPr>
        <p:txBody>
          <a:bodyPr wrap="square">
            <a:spAutoFit/>
          </a:bodyPr>
          <a:lstStyle/>
          <a:p>
            <a:r>
              <a:rPr sz="2200" b="0">
                <a:solidFill>
                  <a:srgbClr val="D24E01"/>
                </a:solidFill>
                <a:latin typeface="Menlo"/>
              </a:rPr>
              <a:t>ycai report winter-2026/  # produces deck.pptx and report.docx</a:t>
            </a:r>
          </a:p>
        </p:txBody>
      </p:sp>
      <p:sp>
        <p:nvSpPr>
          <p:cNvPr id="7" name="TextBox 6"/>
          <p:cNvSpPr txBox="1"/>
          <p:nvPr/>
        </p:nvSpPr>
        <p:spPr>
          <a:xfrm>
            <a:off x="548640" y="5029200"/>
            <a:ext cx="10972800" cy="548640"/>
          </a:xfrm>
          <a:prstGeom prst="rect">
            <a:avLst/>
          </a:prstGeom>
          <a:noFill/>
        </p:spPr>
        <p:txBody>
          <a:bodyPr wrap="square">
            <a:spAutoFit/>
          </a:bodyPr>
          <a:lstStyle/>
          <a:p>
            <a:r>
              <a:rPr sz="1800" b="0">
                <a:solidFill>
                  <a:srgbClr val="6B6B6B"/>
                </a:solidFill>
                <a:latin typeface="Helvetica Neue"/>
              </a:rPr>
              <a:t>Source code: github.com/RyanAlberts/yc-ai-pulse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